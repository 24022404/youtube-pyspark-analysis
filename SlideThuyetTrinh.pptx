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88" r:id="rId3"/>
    <p:sldId id="291" r:id="rId4"/>
    <p:sldId id="303" r:id="rId5"/>
    <p:sldId id="292" r:id="rId6"/>
    <p:sldId id="260" r:id="rId7"/>
    <p:sldId id="293" r:id="rId8"/>
    <p:sldId id="289" r:id="rId9"/>
    <p:sldId id="294" r:id="rId10"/>
    <p:sldId id="304" r:id="rId11"/>
    <p:sldId id="305" r:id="rId12"/>
    <p:sldId id="307" r:id="rId13"/>
    <p:sldId id="308" r:id="rId14"/>
    <p:sldId id="309" r:id="rId15"/>
    <p:sldId id="310" r:id="rId16"/>
    <p:sldId id="311" r:id="rId17"/>
    <p:sldId id="298" r:id="rId18"/>
    <p:sldId id="306" r:id="rId19"/>
    <p:sldId id="312" r:id="rId20"/>
    <p:sldId id="313" r:id="rId21"/>
    <p:sldId id="314" r:id="rId22"/>
    <p:sldId id="315" r:id="rId23"/>
    <p:sldId id="302" r:id="rId24"/>
    <p:sldId id="316" r:id="rId25"/>
    <p:sldId id="317" r:id="rId26"/>
    <p:sldId id="318" r:id="rId27"/>
    <p:sldId id="319" r:id="rId28"/>
  </p:sldIdLst>
  <p:sldSz cx="18288000" cy="10287000"/>
  <p:notesSz cx="6858000" cy="9144000"/>
  <p:embeddedFontLst>
    <p:embeddedFont>
      <p:font typeface="Cambria Bold" panose="02040803050406030204" pitchFamily="18" charset="0"/>
      <p:bold r:id="rId30"/>
    </p:embeddedFont>
    <p:embeddedFont>
      <p:font typeface="Cambria Math" panose="02040503050406030204" pitchFamily="18" charset="0"/>
      <p:regular r:id="rId31"/>
    </p:embeddedFont>
    <p:embeddedFont>
      <p:font typeface="TT Rounds Condensed" panose="020B0604020202020204" charset="0"/>
      <p:regular r:id="rId32"/>
    </p:embeddedFont>
    <p:embeddedFont>
      <p:font typeface="TT Rounds Condensed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033" autoAdjust="0"/>
  </p:normalViewPr>
  <p:slideViewPr>
    <p:cSldViewPr>
      <p:cViewPr varScale="1">
        <p:scale>
          <a:sx n="55" d="100"/>
          <a:sy n="55" d="100"/>
        </p:scale>
        <p:origin x="658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b8a5aef315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b8a5aef315_1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6CB7F-2BAE-76F9-8116-8443A191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219D77-62C9-7177-3079-DDFAF0C763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79F82-791A-0062-79CA-16ED509F606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358487-F8D2-10FD-16AA-B501ED31E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019F80B-C248-4F18-87F6-70808FAD5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04546-75EB-EF00-EDE6-93FB5E6FAA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4D763-72AB-C04F-9226-A9B12D074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91683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C504-2C56-9CD9-A03B-54F06912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E4731D-3A35-71F0-D1B5-687659DC32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CBED4-0289-D435-B131-426B0E2892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7EE241E-43EB-76B6-D9E4-66DDBA3AE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C8002F9-D95E-4A8D-EB4C-21A6A483B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C918E-46AD-F42B-D507-784DC9902C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5BBE1-13E5-7507-3902-3B94D53EB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76374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12D2-D870-DF99-587F-46EDAA606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EA7B0C-8C6A-49BE-53F7-BAC372735B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0E1DD-AD64-6285-8972-9E538C0FD4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811B48-7717-ABF1-6BE5-BBE94C06E9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BA8EB15-BB06-7803-9B1F-4964FDBF5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F64F7-4D02-022A-7B7E-46363706F8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6FE91-CCDC-ACDC-1127-FA2D8DEEE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15394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giới thiệu về các language modeling (RNN, LSTM,...) và giới thiệu về kiến trúc mới Transformers, giới thiệu về experiment (task dịch máy EN-GER và EN-FR, cho thấy hiệu quả của Transformers và các model khác), giới thiệu về application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D232A-56D6-C969-CA06-B0C8110E1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3A2901-DEC5-F183-1784-3E19AEA3DE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932DE-50AE-44E2-FB9A-5FAE92FB6DE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DE04839-1F62-4406-EE72-D4C13ADA8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C0D112-551C-BD0D-951D-F775406A6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E29E3-7429-B2FE-E141-BE26C00817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30B1E-21CC-5492-6EED-303FF92F5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66707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1778-3F3C-37C9-D5A3-6E6C7602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290081-197E-D41D-FECD-925457ABC7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8CAFF-A38F-1A7A-1233-3458799F4D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D418119-8D0A-5FBF-BADE-32DA8874E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6C173B5-B0D3-730D-931C-3C9E0FCFF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4E318-B126-A8F7-E337-B01F640C7C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C06D8-72E6-DC01-A266-5102B5E15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3428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2E945-7D23-CBCD-6811-49FE28FE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A0556C-D463-FE1A-9311-4621439E4D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3789F-0276-6D9F-EE31-1057AD1053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27C402-4B22-CCE3-D253-C80282875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0A083AB-D760-FA35-F969-F847E9B03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5244A-1183-B1B8-DAA6-08DA51BE8C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B921C-03D5-5124-5A0E-602ED01DC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66706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E2CEC-331A-D4B2-968C-AB809416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F73994-D958-9979-4351-FDDF84C486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C2C24-F523-CAA8-E346-9128A4D59E3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2FFF4B-C965-C01D-4322-172ABBF0E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3FAA5F4-1CAD-2B55-769A-D2883B8A5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84140-687C-655F-61B2-035F5B34B6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38570-2A42-FF70-BBA3-8D3DB5790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0255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DE4CC-5497-1A3B-629C-27B21D16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1FC8E3-CFB6-FEAF-8E87-990E98590F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B17D8-8774-1F70-A718-0B8D8D9762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A52B596-2186-9566-F9A1-84B363ADD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FF16FDA-81B0-4A80-9C36-5FDACBAB9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B1D1F-8F5C-D023-6A1E-05F84BBA0B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C4000-1B18-7679-0D66-BA2E51A44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64856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C528-4010-26B1-7892-8995CC84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1FD7BB-CD0A-190C-9AE1-0451829B9B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BFDF4-0B6F-3401-69D8-C769BCFBA9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6593253-C3AF-1490-FD24-DCE3FC38A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DE7C19A-8CA5-36E2-6BCB-2439BE026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5D262-7EDD-A829-C3CA-61CC3CB869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2C113-4405-C9BC-56AF-0D732C313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49227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5370-B429-DFC7-BB2B-4CD3E411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8B6CC3-AE0B-4CC1-3EB9-921FA804C4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1AD32-05D5-039C-E362-6BB2288A495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6126EA8-EBB3-6DC2-9B83-2402DF6D3E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28763D2-4AAA-9568-4330-DDAE8E249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806FA-B003-867D-81D3-5FC022D0E8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D5004-76E5-B59A-73E8-FEC838B30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29049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0B36-0DFB-AB90-D6BB-E3A4D856A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4BB01E-3D47-50FC-4DC4-251B6F1851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BCB94-4FF3-164E-424E-C5DA5A481C6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D152418-ED0E-8F8B-64D8-34C27D187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FCF7EED-1B0E-1501-12CB-1E5467EBA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D5C73-090C-3507-D86A-80ADDEBAC9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7BD32-F217-5604-EB41-F1F0D2324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05412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98B65-436E-6684-C838-1107E5D5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B652A1-6D31-4573-2459-EA259DD0C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CD3AE-9EF3-5BC6-F556-845B5DE4FF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5B15525-779A-DF36-1554-654D7FE61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723FEA0-81F9-B0D3-BC3A-13EC4F637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F73C0-5C97-3D55-8130-2E6393DBEA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EE8E6-9A9A-1B85-8723-EB78A73BC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73771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68F3-0934-12C1-9A4B-ABC572C9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F2196-AA7A-6AF6-12DD-8549364E25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EE476-8CC7-D99F-024F-6FCD16F03B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7B105A1-0DA2-3E1C-DA46-C4DC38B16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A030AEF-49F1-BDA8-ACC2-417EC0826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2E337-D835-734F-2E63-CCA8E019DA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C1B5A-1410-3C8F-BBD0-833373590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1231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366F7-9BCC-32C9-1B3C-F1425179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0658E8-0270-0D7E-B717-439E53FBFF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967C2-426F-1038-E939-4E248B5045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40FB798-4C93-3EBB-DFFE-E554091AC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23EAC0E-C405-F40B-EE4C-BD228AF658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0BF21-49E1-4CCF-7655-2BE73E98EF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0F139-543D-4C00-6E8B-3A202E96E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94798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3CDF7-62BB-3AC8-AD02-8AE8C013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1D530-6D18-5E7E-F579-D1ADE5CC62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CF4BD-CACD-EBCF-1235-20566937A77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9990A4-EEED-602C-74DA-870BDCE8A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547A2BA-8AE4-435C-5F06-FB6171FA8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2715E-5674-3C9F-EBFF-12F2266C44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B2E5D-F279-31A4-3C26-F85D63D4A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2881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A48D-AECE-79E3-207F-70E8638B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63BDC9-E981-2575-5BBC-9845E57EF5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B4E61-2634-32E9-DC96-200FA7C8FA8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037E70C-413C-C906-3FF3-FC11C7572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B682597-EE08-0C33-8AA6-38258F820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8DAA7-3D44-52E5-A2BE-FC8E80097A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D1260-96EA-3BF3-F0B4-632063960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42220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AD78F-BD5A-9109-19F6-30AF40420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C6936A-B6AA-B0C6-EFFF-66ED22772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0DE51-E0C1-C67B-0BF1-29F5E67D22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68B1D2-3EC3-1633-0B90-FA82A4391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F9882EF-63D6-D615-1ED2-6ED0E72AD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3A58E-8789-6CD9-8723-F314779520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4A311-7C92-CD16-D844-D1C77475D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82543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D430-84C9-E5D5-D39F-6601AAC5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4AB09A-DA8A-24C2-9292-BED049DDF1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AEB142-D190-6D64-6F35-413D7FCF98A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03C8269-A0BB-BC83-66BB-1D68CC087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8CEED5-B944-F1CC-4DCB-15EF545DE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91563-BB57-51C8-50DD-F5BB3B544F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F3580-47A2-2701-1F08-D434B9A30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069246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98F5-8CC9-F7BC-9C0F-170823D7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C2CAA4-7140-5A91-6752-A0A6AC80C7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EB430-5F51-DE96-FFB8-EE46C9C7C6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E19B4B5-0C4D-D968-508A-D73E7B38D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44A93BB-77D6-3DAB-8192-747E25BB3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F6BB8-BCBF-04F4-B0C4-C688BE51D0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186AB-A47C-E190-BE63-3D9B04212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1771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>
            <a:spLocks noGrp="1"/>
          </p:cNvSpPr>
          <p:nvPr>
            <p:ph type="title"/>
          </p:nvPr>
        </p:nvSpPr>
        <p:spPr>
          <a:xfrm>
            <a:off x="1448100" y="695650"/>
            <a:ext cx="15391800" cy="9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5"/>
          <p:cNvSpPr txBox="1">
            <a:spLocks noGrp="1"/>
          </p:cNvSpPr>
          <p:nvPr>
            <p:ph type="subTitle" idx="1"/>
          </p:nvPr>
        </p:nvSpPr>
        <p:spPr>
          <a:xfrm>
            <a:off x="4690372" y="3490200"/>
            <a:ext cx="37506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25"/>
          <p:cNvSpPr txBox="1">
            <a:spLocks noGrp="1"/>
          </p:cNvSpPr>
          <p:nvPr>
            <p:ph type="subTitle" idx="2"/>
          </p:nvPr>
        </p:nvSpPr>
        <p:spPr>
          <a:xfrm>
            <a:off x="4690350" y="4299600"/>
            <a:ext cx="37506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285" name="Google Shape;285;p25"/>
          <p:cNvSpPr txBox="1">
            <a:spLocks noGrp="1"/>
          </p:cNvSpPr>
          <p:nvPr>
            <p:ph type="subTitle" idx="3"/>
          </p:nvPr>
        </p:nvSpPr>
        <p:spPr>
          <a:xfrm>
            <a:off x="4690348" y="6633450"/>
            <a:ext cx="37506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5"/>
          <p:cNvSpPr txBox="1">
            <a:spLocks noGrp="1"/>
          </p:cNvSpPr>
          <p:nvPr>
            <p:ph type="subTitle" idx="4"/>
          </p:nvPr>
        </p:nvSpPr>
        <p:spPr>
          <a:xfrm>
            <a:off x="4690376" y="7442850"/>
            <a:ext cx="37506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287" name="Google Shape;287;p25"/>
          <p:cNvSpPr txBox="1">
            <a:spLocks noGrp="1"/>
          </p:cNvSpPr>
          <p:nvPr>
            <p:ph type="subTitle" idx="5"/>
          </p:nvPr>
        </p:nvSpPr>
        <p:spPr>
          <a:xfrm>
            <a:off x="12685476" y="3490200"/>
            <a:ext cx="37506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25"/>
          <p:cNvSpPr txBox="1">
            <a:spLocks noGrp="1"/>
          </p:cNvSpPr>
          <p:nvPr>
            <p:ph type="subTitle" idx="6"/>
          </p:nvPr>
        </p:nvSpPr>
        <p:spPr>
          <a:xfrm>
            <a:off x="12685494" y="4299600"/>
            <a:ext cx="37506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289" name="Google Shape;289;p25"/>
          <p:cNvSpPr/>
          <p:nvPr/>
        </p:nvSpPr>
        <p:spPr>
          <a:xfrm rot="-5400000" flipH="1">
            <a:off x="519148" y="-440581"/>
            <a:ext cx="1179608" cy="2315122"/>
          </a:xfrm>
          <a:custGeom>
            <a:avLst/>
            <a:gdLst/>
            <a:ahLst/>
            <a:cxnLst/>
            <a:rect l="l" t="t" r="r" b="b"/>
            <a:pathLst>
              <a:path w="36543" h="71720" extrusionOk="0">
                <a:moveTo>
                  <a:pt x="36543" y="1"/>
                </a:moveTo>
                <a:lnTo>
                  <a:pt x="27532" y="572"/>
                </a:lnTo>
                <a:cubicBezTo>
                  <a:pt x="27532" y="572"/>
                  <a:pt x="14721" y="15827"/>
                  <a:pt x="8619" y="32260"/>
                </a:cubicBezTo>
                <a:cubicBezTo>
                  <a:pt x="1" y="55349"/>
                  <a:pt x="10314" y="70782"/>
                  <a:pt x="16755" y="71639"/>
                </a:cubicBezTo>
                <a:cubicBezTo>
                  <a:pt x="17165" y="71692"/>
                  <a:pt x="17569" y="71719"/>
                  <a:pt x="17964" y="71719"/>
                </a:cubicBezTo>
                <a:cubicBezTo>
                  <a:pt x="23788" y="71719"/>
                  <a:pt x="27796" y="65775"/>
                  <a:pt x="25373" y="49300"/>
                </a:cubicBezTo>
                <a:cubicBezTo>
                  <a:pt x="23857" y="38933"/>
                  <a:pt x="25284" y="19592"/>
                  <a:pt x="3654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0" name="Google Shape;290;p25"/>
          <p:cNvSpPr/>
          <p:nvPr/>
        </p:nvSpPr>
        <p:spPr>
          <a:xfrm rot="-5400000" flipH="1">
            <a:off x="831168" y="-196072"/>
            <a:ext cx="629556" cy="1937220"/>
          </a:xfrm>
          <a:custGeom>
            <a:avLst/>
            <a:gdLst/>
            <a:ahLst/>
            <a:cxnLst/>
            <a:rect l="l" t="t" r="r" b="b"/>
            <a:pathLst>
              <a:path w="19503" h="60013" extrusionOk="0">
                <a:moveTo>
                  <a:pt x="18890" y="1"/>
                </a:moveTo>
                <a:cubicBezTo>
                  <a:pt x="18719" y="1"/>
                  <a:pt x="18554" y="76"/>
                  <a:pt x="18450" y="227"/>
                </a:cubicBezTo>
                <a:cubicBezTo>
                  <a:pt x="4319" y="18801"/>
                  <a:pt x="1" y="45512"/>
                  <a:pt x="4140" y="59554"/>
                </a:cubicBezTo>
                <a:cubicBezTo>
                  <a:pt x="4140" y="59589"/>
                  <a:pt x="4158" y="59643"/>
                  <a:pt x="4176" y="59679"/>
                </a:cubicBezTo>
                <a:cubicBezTo>
                  <a:pt x="4255" y="59889"/>
                  <a:pt x="4450" y="60012"/>
                  <a:pt x="4662" y="60012"/>
                </a:cubicBezTo>
                <a:cubicBezTo>
                  <a:pt x="4737" y="60012"/>
                  <a:pt x="4815" y="59997"/>
                  <a:pt x="4890" y="59964"/>
                </a:cubicBezTo>
                <a:cubicBezTo>
                  <a:pt x="5157" y="59857"/>
                  <a:pt x="5300" y="59536"/>
                  <a:pt x="5175" y="59250"/>
                </a:cubicBezTo>
                <a:cubicBezTo>
                  <a:pt x="1143" y="45440"/>
                  <a:pt x="5389" y="19176"/>
                  <a:pt x="19324" y="869"/>
                </a:cubicBezTo>
                <a:cubicBezTo>
                  <a:pt x="19503" y="637"/>
                  <a:pt x="19449" y="280"/>
                  <a:pt x="19217" y="102"/>
                </a:cubicBezTo>
                <a:lnTo>
                  <a:pt x="19164" y="66"/>
                </a:lnTo>
                <a:cubicBezTo>
                  <a:pt x="19076" y="23"/>
                  <a:pt x="18982" y="1"/>
                  <a:pt x="188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1" name="Google Shape;291;p25"/>
          <p:cNvSpPr/>
          <p:nvPr/>
        </p:nvSpPr>
        <p:spPr>
          <a:xfrm rot="-5400000" flipH="1">
            <a:off x="150240" y="493890"/>
            <a:ext cx="1487752" cy="1978732"/>
          </a:xfrm>
          <a:custGeom>
            <a:avLst/>
            <a:gdLst/>
            <a:ahLst/>
            <a:cxnLst/>
            <a:rect l="l" t="t" r="r" b="b"/>
            <a:pathLst>
              <a:path w="46089" h="61299" extrusionOk="0">
                <a:moveTo>
                  <a:pt x="41244" y="0"/>
                </a:moveTo>
                <a:cubicBezTo>
                  <a:pt x="41241" y="0"/>
                  <a:pt x="41238" y="0"/>
                  <a:pt x="41235" y="0"/>
                </a:cubicBezTo>
                <a:cubicBezTo>
                  <a:pt x="41021" y="0"/>
                  <a:pt x="17183" y="1499"/>
                  <a:pt x="17183" y="1517"/>
                </a:cubicBezTo>
                <a:cubicBezTo>
                  <a:pt x="14899" y="2677"/>
                  <a:pt x="12705" y="3979"/>
                  <a:pt x="10581" y="5407"/>
                </a:cubicBezTo>
                <a:cubicBezTo>
                  <a:pt x="8601" y="6852"/>
                  <a:pt x="6906" y="8636"/>
                  <a:pt x="5568" y="10688"/>
                </a:cubicBezTo>
                <a:cubicBezTo>
                  <a:pt x="4711" y="11866"/>
                  <a:pt x="4247" y="13275"/>
                  <a:pt x="4229" y="14721"/>
                </a:cubicBezTo>
                <a:cubicBezTo>
                  <a:pt x="4372" y="18093"/>
                  <a:pt x="6442" y="20662"/>
                  <a:pt x="5800" y="23963"/>
                </a:cubicBezTo>
                <a:cubicBezTo>
                  <a:pt x="5068" y="27692"/>
                  <a:pt x="268" y="29780"/>
                  <a:pt x="90" y="33580"/>
                </a:cubicBezTo>
                <a:cubicBezTo>
                  <a:pt x="1" y="35507"/>
                  <a:pt x="1178" y="37274"/>
                  <a:pt x="2570" y="38612"/>
                </a:cubicBezTo>
                <a:cubicBezTo>
                  <a:pt x="4051" y="39825"/>
                  <a:pt x="5461" y="41146"/>
                  <a:pt x="6781" y="42555"/>
                </a:cubicBezTo>
                <a:cubicBezTo>
                  <a:pt x="9886" y="46445"/>
                  <a:pt x="9529" y="52172"/>
                  <a:pt x="12152" y="56419"/>
                </a:cubicBezTo>
                <a:cubicBezTo>
                  <a:pt x="12901" y="57793"/>
                  <a:pt x="13954" y="59006"/>
                  <a:pt x="15220" y="59934"/>
                </a:cubicBezTo>
                <a:cubicBezTo>
                  <a:pt x="16378" y="60652"/>
                  <a:pt x="17717" y="61298"/>
                  <a:pt x="19058" y="61298"/>
                </a:cubicBezTo>
                <a:cubicBezTo>
                  <a:pt x="19350" y="61298"/>
                  <a:pt x="19641" y="61268"/>
                  <a:pt x="19931" y="61201"/>
                </a:cubicBezTo>
                <a:cubicBezTo>
                  <a:pt x="21911" y="60737"/>
                  <a:pt x="23160" y="58703"/>
                  <a:pt x="23517" y="56686"/>
                </a:cubicBezTo>
                <a:cubicBezTo>
                  <a:pt x="23892" y="54688"/>
                  <a:pt x="23571" y="52618"/>
                  <a:pt x="23607" y="50602"/>
                </a:cubicBezTo>
                <a:cubicBezTo>
                  <a:pt x="23589" y="49639"/>
                  <a:pt x="23749" y="48693"/>
                  <a:pt x="24106" y="47819"/>
                </a:cubicBezTo>
                <a:cubicBezTo>
                  <a:pt x="24820" y="46445"/>
                  <a:pt x="25997" y="45374"/>
                  <a:pt x="27407" y="44768"/>
                </a:cubicBezTo>
                <a:cubicBezTo>
                  <a:pt x="29316" y="43822"/>
                  <a:pt x="31386" y="43304"/>
                  <a:pt x="33349" y="42484"/>
                </a:cubicBezTo>
                <a:cubicBezTo>
                  <a:pt x="35365" y="41806"/>
                  <a:pt x="37113" y="40450"/>
                  <a:pt x="38273" y="38665"/>
                </a:cubicBezTo>
                <a:cubicBezTo>
                  <a:pt x="39629" y="36274"/>
                  <a:pt x="38773" y="33491"/>
                  <a:pt x="37756" y="31154"/>
                </a:cubicBezTo>
                <a:cubicBezTo>
                  <a:pt x="36810" y="29048"/>
                  <a:pt x="35829" y="26657"/>
                  <a:pt x="36703" y="24534"/>
                </a:cubicBezTo>
                <a:cubicBezTo>
                  <a:pt x="37203" y="23499"/>
                  <a:pt x="37898" y="22571"/>
                  <a:pt x="38773" y="21822"/>
                </a:cubicBezTo>
                <a:cubicBezTo>
                  <a:pt x="39594" y="21019"/>
                  <a:pt x="40414" y="20198"/>
                  <a:pt x="41253" y="19395"/>
                </a:cubicBezTo>
                <a:cubicBezTo>
                  <a:pt x="42109" y="18575"/>
                  <a:pt x="42912" y="17700"/>
                  <a:pt x="43644" y="16790"/>
                </a:cubicBezTo>
                <a:cubicBezTo>
                  <a:pt x="45036" y="15042"/>
                  <a:pt x="45856" y="12918"/>
                  <a:pt x="45981" y="10688"/>
                </a:cubicBezTo>
                <a:cubicBezTo>
                  <a:pt x="46088" y="8725"/>
                  <a:pt x="45678" y="6763"/>
                  <a:pt x="44821" y="4996"/>
                </a:cubicBezTo>
                <a:cubicBezTo>
                  <a:pt x="44305" y="3982"/>
                  <a:pt x="42634" y="0"/>
                  <a:pt x="412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2" name="Google Shape;292;p25"/>
          <p:cNvSpPr/>
          <p:nvPr/>
        </p:nvSpPr>
        <p:spPr>
          <a:xfrm rot="-5400000" flipH="1">
            <a:off x="553305" y="502590"/>
            <a:ext cx="498822" cy="1785600"/>
          </a:xfrm>
          <a:custGeom>
            <a:avLst/>
            <a:gdLst/>
            <a:ahLst/>
            <a:cxnLst/>
            <a:rect l="l" t="t" r="r" b="b"/>
            <a:pathLst>
              <a:path w="15453" h="55316" extrusionOk="0">
                <a:moveTo>
                  <a:pt x="14832" y="0"/>
                </a:moveTo>
                <a:cubicBezTo>
                  <a:pt x="14647" y="0"/>
                  <a:pt x="14470" y="91"/>
                  <a:pt x="14364" y="269"/>
                </a:cubicBezTo>
                <a:cubicBezTo>
                  <a:pt x="2838" y="18879"/>
                  <a:pt x="1" y="45054"/>
                  <a:pt x="3105" y="54903"/>
                </a:cubicBezTo>
                <a:cubicBezTo>
                  <a:pt x="3105" y="54921"/>
                  <a:pt x="3123" y="54938"/>
                  <a:pt x="3123" y="54974"/>
                </a:cubicBezTo>
                <a:cubicBezTo>
                  <a:pt x="3204" y="55191"/>
                  <a:pt x="3410" y="55315"/>
                  <a:pt x="3629" y="55315"/>
                </a:cubicBezTo>
                <a:cubicBezTo>
                  <a:pt x="3698" y="55315"/>
                  <a:pt x="3768" y="55303"/>
                  <a:pt x="3837" y="55277"/>
                </a:cubicBezTo>
                <a:cubicBezTo>
                  <a:pt x="4104" y="55170"/>
                  <a:pt x="4247" y="54867"/>
                  <a:pt x="4140" y="54582"/>
                </a:cubicBezTo>
                <a:cubicBezTo>
                  <a:pt x="1071" y="44964"/>
                  <a:pt x="3962" y="19200"/>
                  <a:pt x="15292" y="822"/>
                </a:cubicBezTo>
                <a:cubicBezTo>
                  <a:pt x="15452" y="572"/>
                  <a:pt x="15363" y="233"/>
                  <a:pt x="15113" y="72"/>
                </a:cubicBezTo>
                <a:cubicBezTo>
                  <a:pt x="15023" y="24"/>
                  <a:pt x="14926" y="0"/>
                  <a:pt x="1483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3" name="Google Shape;293;p25"/>
          <p:cNvSpPr/>
          <p:nvPr/>
        </p:nvSpPr>
        <p:spPr>
          <a:xfrm rot="8320551" flipH="1">
            <a:off x="15908747" y="142718"/>
            <a:ext cx="2154986" cy="2068892"/>
          </a:xfrm>
          <a:custGeom>
            <a:avLst/>
            <a:gdLst/>
            <a:ahLst/>
            <a:cxnLst/>
            <a:rect l="l" t="t" r="r" b="b"/>
            <a:pathLst>
              <a:path w="60398" h="57985" extrusionOk="0">
                <a:moveTo>
                  <a:pt x="54331" y="0"/>
                </a:moveTo>
                <a:cubicBezTo>
                  <a:pt x="54331" y="0"/>
                  <a:pt x="45535" y="11687"/>
                  <a:pt x="35507" y="23820"/>
                </a:cubicBezTo>
                <a:cubicBezTo>
                  <a:pt x="25479" y="35935"/>
                  <a:pt x="0" y="44696"/>
                  <a:pt x="10599" y="54742"/>
                </a:cubicBezTo>
                <a:cubicBezTo>
                  <a:pt x="12977" y="56996"/>
                  <a:pt x="15775" y="57984"/>
                  <a:pt x="18781" y="57984"/>
                </a:cubicBezTo>
                <a:cubicBezTo>
                  <a:pt x="29194" y="57984"/>
                  <a:pt x="42112" y="46129"/>
                  <a:pt x="48800" y="33973"/>
                </a:cubicBezTo>
                <a:cubicBezTo>
                  <a:pt x="54920" y="22821"/>
                  <a:pt x="60398" y="7905"/>
                  <a:pt x="60398" y="7905"/>
                </a:cubicBezTo>
                <a:lnTo>
                  <a:pt x="543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4" name="Google Shape;294;p25"/>
          <p:cNvSpPr/>
          <p:nvPr/>
        </p:nvSpPr>
        <p:spPr>
          <a:xfrm rot="8320551" flipH="1">
            <a:off x="16448807" y="190574"/>
            <a:ext cx="1490986" cy="1737712"/>
          </a:xfrm>
          <a:custGeom>
            <a:avLst/>
            <a:gdLst/>
            <a:ahLst/>
            <a:cxnLst/>
            <a:rect l="l" t="t" r="r" b="b"/>
            <a:pathLst>
              <a:path w="41788" h="48703" extrusionOk="0">
                <a:moveTo>
                  <a:pt x="41262" y="1"/>
                </a:moveTo>
                <a:cubicBezTo>
                  <a:pt x="41081" y="1"/>
                  <a:pt x="40906" y="105"/>
                  <a:pt x="40824" y="282"/>
                </a:cubicBezTo>
                <a:cubicBezTo>
                  <a:pt x="26514" y="37163"/>
                  <a:pt x="607" y="47708"/>
                  <a:pt x="357" y="47815"/>
                </a:cubicBezTo>
                <a:cubicBezTo>
                  <a:pt x="125" y="47904"/>
                  <a:pt x="0" y="48154"/>
                  <a:pt x="89" y="48386"/>
                </a:cubicBezTo>
                <a:cubicBezTo>
                  <a:pt x="89" y="48404"/>
                  <a:pt x="89" y="48404"/>
                  <a:pt x="89" y="48404"/>
                </a:cubicBezTo>
                <a:cubicBezTo>
                  <a:pt x="158" y="48595"/>
                  <a:pt x="330" y="48702"/>
                  <a:pt x="512" y="48702"/>
                </a:cubicBezTo>
                <a:cubicBezTo>
                  <a:pt x="567" y="48702"/>
                  <a:pt x="624" y="48692"/>
                  <a:pt x="678" y="48671"/>
                </a:cubicBezTo>
                <a:lnTo>
                  <a:pt x="696" y="48671"/>
                </a:lnTo>
                <a:cubicBezTo>
                  <a:pt x="946" y="48564"/>
                  <a:pt x="27246" y="37877"/>
                  <a:pt x="41699" y="621"/>
                </a:cubicBezTo>
                <a:cubicBezTo>
                  <a:pt x="41788" y="389"/>
                  <a:pt x="41681" y="122"/>
                  <a:pt x="41431" y="32"/>
                </a:cubicBezTo>
                <a:cubicBezTo>
                  <a:pt x="41376" y="11"/>
                  <a:pt x="41319" y="1"/>
                  <a:pt x="4126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5" name="Google Shape;295;p25"/>
          <p:cNvSpPr/>
          <p:nvPr/>
        </p:nvSpPr>
        <p:spPr>
          <a:xfrm rot="8320551" flipH="1">
            <a:off x="16522774" y="897917"/>
            <a:ext cx="1684548" cy="1315014"/>
          </a:xfrm>
          <a:custGeom>
            <a:avLst/>
            <a:gdLst/>
            <a:ahLst/>
            <a:cxnLst/>
            <a:rect l="l" t="t" r="r" b="b"/>
            <a:pathLst>
              <a:path w="47213" h="36856" extrusionOk="0">
                <a:moveTo>
                  <a:pt x="43429" y="0"/>
                </a:moveTo>
                <a:cubicBezTo>
                  <a:pt x="31118" y="18467"/>
                  <a:pt x="10635" y="21287"/>
                  <a:pt x="6210" y="24213"/>
                </a:cubicBezTo>
                <a:cubicBezTo>
                  <a:pt x="1785" y="27121"/>
                  <a:pt x="0" y="30975"/>
                  <a:pt x="4675" y="35222"/>
                </a:cubicBezTo>
                <a:cubicBezTo>
                  <a:pt x="5905" y="36335"/>
                  <a:pt x="7829" y="36856"/>
                  <a:pt x="10161" y="36856"/>
                </a:cubicBezTo>
                <a:cubicBezTo>
                  <a:pt x="16723" y="36856"/>
                  <a:pt x="26523" y="32730"/>
                  <a:pt x="33223" y="26068"/>
                </a:cubicBezTo>
                <a:cubicBezTo>
                  <a:pt x="43626" y="15702"/>
                  <a:pt x="47212" y="5032"/>
                  <a:pt x="47212" y="5032"/>
                </a:cubicBezTo>
                <a:lnTo>
                  <a:pt x="434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6" name="Google Shape;296;p25"/>
          <p:cNvSpPr/>
          <p:nvPr/>
        </p:nvSpPr>
        <p:spPr>
          <a:xfrm rot="8320551" flipH="1">
            <a:off x="16748807" y="976031"/>
            <a:ext cx="1412062" cy="1091122"/>
          </a:xfrm>
          <a:custGeom>
            <a:avLst/>
            <a:gdLst/>
            <a:ahLst/>
            <a:cxnLst/>
            <a:rect l="l" t="t" r="r" b="b"/>
            <a:pathLst>
              <a:path w="39576" h="30581" extrusionOk="0">
                <a:moveTo>
                  <a:pt x="39084" y="1"/>
                </a:moveTo>
                <a:cubicBezTo>
                  <a:pt x="38910" y="1"/>
                  <a:pt x="38744" y="104"/>
                  <a:pt x="38666" y="275"/>
                </a:cubicBezTo>
                <a:cubicBezTo>
                  <a:pt x="28923" y="23309"/>
                  <a:pt x="661" y="29626"/>
                  <a:pt x="429" y="29661"/>
                </a:cubicBezTo>
                <a:cubicBezTo>
                  <a:pt x="179" y="29715"/>
                  <a:pt x="1" y="29947"/>
                  <a:pt x="36" y="30197"/>
                </a:cubicBezTo>
                <a:cubicBezTo>
                  <a:pt x="83" y="30416"/>
                  <a:pt x="268" y="30581"/>
                  <a:pt x="482" y="30581"/>
                </a:cubicBezTo>
                <a:cubicBezTo>
                  <a:pt x="512" y="30581"/>
                  <a:pt x="541" y="30578"/>
                  <a:pt x="572" y="30571"/>
                </a:cubicBezTo>
                <a:cubicBezTo>
                  <a:pt x="857" y="30518"/>
                  <a:pt x="29548" y="24112"/>
                  <a:pt x="39451" y="649"/>
                </a:cubicBezTo>
                <a:cubicBezTo>
                  <a:pt x="39576" y="435"/>
                  <a:pt x="39486" y="168"/>
                  <a:pt x="39272" y="43"/>
                </a:cubicBezTo>
                <a:cubicBezTo>
                  <a:pt x="39211" y="14"/>
                  <a:pt x="39147" y="1"/>
                  <a:pt x="390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7" name="Google Shape;297;p25"/>
          <p:cNvSpPr txBox="1">
            <a:spLocks noGrp="1"/>
          </p:cNvSpPr>
          <p:nvPr>
            <p:ph type="subTitle" idx="7"/>
          </p:nvPr>
        </p:nvSpPr>
        <p:spPr>
          <a:xfrm>
            <a:off x="12685498" y="6633450"/>
            <a:ext cx="37506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25"/>
          <p:cNvSpPr txBox="1">
            <a:spLocks noGrp="1"/>
          </p:cNvSpPr>
          <p:nvPr>
            <p:ph type="subTitle" idx="8"/>
          </p:nvPr>
        </p:nvSpPr>
        <p:spPr>
          <a:xfrm>
            <a:off x="12685526" y="7442850"/>
            <a:ext cx="37506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521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801016" y="233356"/>
            <a:ext cx="973466" cy="973466"/>
          </a:xfrm>
          <a:custGeom>
            <a:avLst/>
            <a:gdLst/>
            <a:ahLst/>
            <a:cxnLst/>
            <a:rect l="l" t="t" r="r" b="b"/>
            <a:pathLst>
              <a:path w="973466" h="973466">
                <a:moveTo>
                  <a:pt x="0" y="0"/>
                </a:moveTo>
                <a:lnTo>
                  <a:pt x="973466" y="0"/>
                </a:lnTo>
                <a:lnTo>
                  <a:pt x="973466" y="973466"/>
                </a:lnTo>
                <a:lnTo>
                  <a:pt x="0" y="973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5" name="Freeform 5"/>
          <p:cNvSpPr/>
          <p:nvPr/>
        </p:nvSpPr>
        <p:spPr>
          <a:xfrm>
            <a:off x="2272282" y="569212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0"/>
                </a:moveTo>
                <a:lnTo>
                  <a:pt x="1371600" y="0"/>
                </a:lnTo>
                <a:lnTo>
                  <a:pt x="1371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33394" y="603676"/>
            <a:ext cx="1302674" cy="1302674"/>
          </a:xfrm>
          <a:custGeom>
            <a:avLst/>
            <a:gdLst/>
            <a:ahLst/>
            <a:cxnLst/>
            <a:rect l="l" t="t" r="r" b="b"/>
            <a:pathLst>
              <a:path w="1302674" h="1302674">
                <a:moveTo>
                  <a:pt x="0" y="0"/>
                </a:moveTo>
                <a:lnTo>
                  <a:pt x="1302674" y="0"/>
                </a:lnTo>
                <a:lnTo>
                  <a:pt x="1302674" y="1302674"/>
                </a:lnTo>
                <a:lnTo>
                  <a:pt x="0" y="13026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945634" y="912114"/>
            <a:ext cx="3675888" cy="685800"/>
          </a:xfrm>
          <a:custGeom>
            <a:avLst/>
            <a:gdLst/>
            <a:ahLst/>
            <a:cxnLst/>
            <a:rect l="l" t="t" r="r" b="b"/>
            <a:pathLst>
              <a:path w="3675888" h="685800">
                <a:moveTo>
                  <a:pt x="0" y="0"/>
                </a:moveTo>
                <a:lnTo>
                  <a:pt x="3675888" y="0"/>
                </a:lnTo>
                <a:lnTo>
                  <a:pt x="367588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2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692056" y="4757330"/>
            <a:ext cx="6595693" cy="4123321"/>
          </a:xfrm>
          <a:custGeom>
            <a:avLst/>
            <a:gdLst/>
            <a:ahLst/>
            <a:cxnLst/>
            <a:rect l="l" t="t" r="r" b="b"/>
            <a:pathLst>
              <a:path w="6595693" h="4123321">
                <a:moveTo>
                  <a:pt x="0" y="0"/>
                </a:moveTo>
                <a:lnTo>
                  <a:pt x="6595693" y="0"/>
                </a:lnTo>
                <a:lnTo>
                  <a:pt x="6595693" y="4123321"/>
                </a:lnTo>
                <a:lnTo>
                  <a:pt x="0" y="41233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5461" b="-254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1/27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56408" y="2199772"/>
            <a:ext cx="1092100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Kĩ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thuật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và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công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nghệ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dữ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liệu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lớn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  <a:ea typeface="Canva Sans Bold"/>
                <a:cs typeface="Canva Sans Bold"/>
                <a:sym typeface="Canva Sans Bold"/>
              </a:rPr>
              <a:t>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7312" y="3236000"/>
            <a:ext cx="16459199" cy="88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</a:rPr>
              <a:t>YouTube</a:t>
            </a:r>
            <a:r>
              <a:rPr lang="en-US" sz="5400" dirty="0"/>
              <a:t> </a:t>
            </a:r>
            <a:r>
              <a:rPr lang="en-US" sz="5199" b="1" dirty="0">
                <a:solidFill>
                  <a:srgbClr val="000000"/>
                </a:solidFill>
                <a:latin typeface="Cambria Bold" panose="02040803050406030204" pitchFamily="18" charset="0"/>
              </a:rPr>
              <a:t>Analytics: Batch &amp; Real-time Processing</a:t>
            </a:r>
            <a:endParaRPr lang="en-US" sz="5199" b="1" dirty="0">
              <a:solidFill>
                <a:srgbClr val="000000"/>
              </a:solidFill>
              <a:latin typeface="Cambria Bold" panose="02040803050406030204" pitchFamily="18" charset="0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82708" y="4836463"/>
            <a:ext cx="8029337" cy="302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Thành </a:t>
            </a:r>
            <a:r>
              <a:rPr lang="en-US" sz="3399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viên</a:t>
            </a:r>
            <a:r>
              <a:rPr lang="en-US" sz="3399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trong</a:t>
            </a:r>
            <a:r>
              <a:rPr lang="en-US" sz="3399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nhóm</a:t>
            </a:r>
            <a:r>
              <a:rPr lang="en-US" sz="3399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Tôn Thành Đạt- 23020354</a:t>
            </a:r>
          </a:p>
          <a:p>
            <a:pPr algn="l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Đồng</a:t>
            </a:r>
            <a:r>
              <a:rPr lang="en-US" sz="3399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 Mạnh Hùng - 23020370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nva Sans"/>
                <a:sym typeface="Canva Sans"/>
              </a:rPr>
              <a:t>Nguyễn Đức Minh - 24022404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70"/>
          <p:cNvSpPr txBox="1">
            <a:spLocks noGrp="1"/>
          </p:cNvSpPr>
          <p:nvPr>
            <p:ph type="title"/>
          </p:nvPr>
        </p:nvSpPr>
        <p:spPr>
          <a:xfrm>
            <a:off x="1448100" y="396862"/>
            <a:ext cx="15391800" cy="9630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r>
              <a:rPr lang="en" sz="7200" b="1" dirty="0">
                <a:latin typeface="Cambria Bold" panose="02040803050406030204" pitchFamily="18" charset="0"/>
              </a:rPr>
              <a:t>MỤC LỤC</a:t>
            </a:r>
            <a:endParaRPr sz="7200" b="1" dirty="0">
              <a:latin typeface="Cambria Bold" panose="02040803050406030204" pitchFamily="18" charset="0"/>
            </a:endParaRPr>
          </a:p>
        </p:txBody>
      </p:sp>
      <p:sp>
        <p:nvSpPr>
          <p:cNvPr id="1228" name="Google Shape;1228;p70"/>
          <p:cNvSpPr/>
          <p:nvPr/>
        </p:nvSpPr>
        <p:spPr>
          <a:xfrm>
            <a:off x="7863600" y="1761400"/>
            <a:ext cx="2560800" cy="15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A1F46E72-82F2-044B-7C67-88416924D001}"/>
              </a:ext>
            </a:extLst>
          </p:cNvPr>
          <p:cNvSpPr txBox="1"/>
          <p:nvPr/>
        </p:nvSpPr>
        <p:spPr>
          <a:xfrm>
            <a:off x="762000" y="2360638"/>
            <a:ext cx="15913308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>
                    <a:lumMod val="65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01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Tổng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quan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dự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án</a:t>
            </a: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Cambria Bold" panose="020408030504060302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>
                    <a:lumMod val="65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02</a:t>
            </a:r>
            <a:r>
              <a:rPr lang="en-US" altLang="en-U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Kiến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trúc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hệ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thống</a:t>
            </a: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Cambria Bold" panose="020408030504060302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Cambria Bold" panose="020408030504060302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>
                    <a:lumMod val="65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03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Dữ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liệu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tiền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xử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lý</a:t>
            </a: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Cambria Bold" panose="020408030504060302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>
                    <a:lumMod val="65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04</a:t>
            </a:r>
            <a:r>
              <a:rPr lang="en-US" altLang="en-U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Phân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tích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dữ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liệu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tĩnh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(Batch processing)</a:t>
            </a: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>
                    <a:lumMod val="65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05</a:t>
            </a:r>
            <a:r>
              <a:rPr lang="en-US" altLang="en-U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Xử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lý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thời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gian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thực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(Real-time processing)</a:t>
            </a: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>
                    <a:lumMod val="65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06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Kết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đánh</a:t>
            </a:r>
            <a:r>
              <a:rPr lang="en-US" altLang="en-US" sz="4000" b="1" dirty="0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tx1">
                    <a:lumMod val="10000"/>
                  </a:schemeClr>
                </a:solidFill>
                <a:latin typeface="Cambria Bold" panose="020408030504060302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giá</a:t>
            </a: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Cambria Bold" panose="020408030504060302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45647330-5ED5-2B71-C300-A6C3C3344AFD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A63677E4-773F-794E-F52E-66B077E1C457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C1448135-2E26-D305-EFF1-1E7E0641E7E1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C9D15E5D-2ABC-1974-2AF3-2C2FB61281D1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179357FC-DE3D-9C35-7FA6-DF9F018A237B}"/>
              </a:ext>
            </a:extLst>
          </p:cNvPr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2/27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83C74-B53D-12E9-5491-05A3DF27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D01918-84CB-A391-406B-F5451D80C8AD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274293C-1074-8229-4586-58B2E9CE63E7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44344A78-71E4-FCEE-44F4-CC5B7CCA24BD}"/>
              </a:ext>
            </a:extLst>
          </p:cNvPr>
          <p:cNvSpPr/>
          <p:nvPr/>
        </p:nvSpPr>
        <p:spPr>
          <a:xfrm>
            <a:off x="3619500" y="2374385"/>
            <a:ext cx="11049000" cy="4876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1,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Tổng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quan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dự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án</a:t>
            </a:r>
            <a:endParaRPr lang="en-US" sz="6000" b="1" dirty="0">
              <a:solidFill>
                <a:schemeClr val="tx1"/>
              </a:solidFill>
              <a:latin typeface="Cambria Bold" panose="02040803050406030204" pitchFamily="18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6ADAB6D-2E3F-6470-B9D7-EAC1038F7865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D2C91DC7-0C47-6F8B-2DB1-7B2719877A85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0D569D3-C148-553B-F3E5-8F43FFAD34D0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3534EE70-3E30-2311-FFEB-CB3B7835A711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544EFCDB-A12E-7652-F919-DFCB24DE0067}"/>
              </a:ext>
            </a:extLst>
          </p:cNvPr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3/27</a:t>
            </a:r>
          </a:p>
        </p:txBody>
      </p:sp>
    </p:spTree>
    <p:extLst>
      <p:ext uri="{BB962C8B-B14F-4D97-AF65-F5344CB8AC3E}">
        <p14:creationId xmlns:p14="http://schemas.microsoft.com/office/powerpoint/2010/main" val="267908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A515-1EB3-CA11-8502-3AF4FC80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B3E733-A1AC-ABF6-E8F4-096D9922DA78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9D33105-2C37-DB59-E441-C0352151448A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1F38E7-58E5-4C05-D664-02074DB4AB07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Tổng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quan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dự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án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CCF79E8-4D33-57DA-E687-71AB59614A92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01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A13E41E-6F0B-A561-1699-D7F4411AD8F3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2072B60E-9B45-2271-4836-85E69CF82764}"/>
              </a:ext>
            </a:extLst>
          </p:cNvPr>
          <p:cNvSpPr/>
          <p:nvPr/>
        </p:nvSpPr>
        <p:spPr>
          <a:xfrm>
            <a:off x="457200" y="1775225"/>
            <a:ext cx="6868880" cy="3657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4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Thực</a:t>
            </a: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trạng</a:t>
            </a: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285750" indent="-285750">
              <a:buFont typeface="Cambria Math" panose="02040503050406030204" pitchFamily="18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Hơn 2.7 tỷ người dùng toàn cầu</a:t>
            </a:r>
          </a:p>
          <a:p>
            <a:pPr marL="285750" indent="-285750">
              <a:buFont typeface="Cambria Math" panose="02040503050406030204" pitchFamily="18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500 giờ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video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được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upload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mỗi phút</a:t>
            </a:r>
          </a:p>
          <a:p>
            <a:pPr marL="285750" indent="-285750">
              <a:buFont typeface="Cambria Math" panose="02040503050406030204" pitchFamily="18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Hàng triệu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video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trending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mỗi ngày</a:t>
            </a:r>
            <a:endParaRPr lang="en-US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Nhu </a:t>
            </a:r>
            <a:r>
              <a:rPr lang="en-US" sz="24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cầu</a:t>
            </a: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285750" indent="-285750">
              <a:buFont typeface="Cambria Math" panose="02040503050406030204" pitchFamily="18" charset="0"/>
              <a:buChar char="⇒"/>
            </a:pP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Content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creators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Tối ưu chiến lược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upload</a:t>
            </a:r>
            <a:endParaRPr lang="vi-VN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Cambria Math" panose="02040503050406030204" pitchFamily="18" charset="0"/>
              <a:buChar char="⇒"/>
            </a:pP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Marketers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Dự đoán xu hướng quảng cáo</a:t>
            </a:r>
          </a:p>
          <a:p>
            <a:pPr marL="285750" indent="-285750">
              <a:buFont typeface="Cambria Math" panose="02040503050406030204" pitchFamily="18" charset="0"/>
              <a:buChar char="⇒"/>
            </a:pP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Platform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Recommendation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system</a:t>
            </a:r>
            <a:endParaRPr lang="en-US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35035674-48B3-57B8-DF9A-883EBE9980BB}"/>
              </a:ext>
            </a:extLst>
          </p:cNvPr>
          <p:cNvSpPr/>
          <p:nvPr/>
        </p:nvSpPr>
        <p:spPr>
          <a:xfrm>
            <a:off x="457200" y="1300711"/>
            <a:ext cx="6868880" cy="609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Nhu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cầu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và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thực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trạng</a:t>
            </a:r>
            <a:endParaRPr lang="en-US" sz="2800" b="1" dirty="0">
              <a:solidFill>
                <a:schemeClr val="tx1"/>
              </a:solidFill>
              <a:latin typeface="Cambria Bold" panose="02040803050406030204" pitchFamily="18" charset="0"/>
            </a:endParaRPr>
          </a:p>
        </p:txBody>
      </p:sp>
      <p:sp>
        <p:nvSpPr>
          <p:cNvPr id="12" name="Mũi tên: Phải 11">
            <a:extLst>
              <a:ext uri="{FF2B5EF4-FFF2-40B4-BE49-F238E27FC236}">
                <a16:creationId xmlns:a16="http://schemas.microsoft.com/office/drawing/2014/main" id="{8B721B9E-E707-09A2-B34E-6923D65F7CFE}"/>
              </a:ext>
            </a:extLst>
          </p:cNvPr>
          <p:cNvSpPr/>
          <p:nvPr/>
        </p:nvSpPr>
        <p:spPr>
          <a:xfrm>
            <a:off x="7784767" y="2346725"/>
            <a:ext cx="914400" cy="304800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D1364C53-F2D3-D233-538C-A051CF28D1CC}"/>
              </a:ext>
            </a:extLst>
          </p:cNvPr>
          <p:cNvSpPr/>
          <p:nvPr/>
        </p:nvSpPr>
        <p:spPr>
          <a:xfrm>
            <a:off x="9157855" y="1394225"/>
            <a:ext cx="6868880" cy="2209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Cambria Math" panose="02040503050406030204" pitchFamily="18" charset="0"/>
              <a:buChar char="–"/>
            </a:pPr>
            <a:endParaRPr lang="en-US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Khối lượng dữ liệu khổng lồ (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Big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Xu hướng thay đổi liên tục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Cần phân tích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real-time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để đưa ra quyết định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EBA574EC-D362-5352-6D27-0C62ECD36D47}"/>
              </a:ext>
            </a:extLst>
          </p:cNvPr>
          <p:cNvSpPr/>
          <p:nvPr/>
        </p:nvSpPr>
        <p:spPr>
          <a:xfrm>
            <a:off x="9157855" y="1300711"/>
            <a:ext cx="6868880" cy="630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Thách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thức</a:t>
            </a:r>
            <a:endParaRPr lang="en-US" sz="2800" b="1" dirty="0">
              <a:solidFill>
                <a:schemeClr val="tx1"/>
              </a:solidFill>
              <a:latin typeface="Cambria Bold" panose="02040803050406030204" pitchFamily="18" charset="0"/>
            </a:endParaRPr>
          </a:p>
        </p:txBody>
      </p:sp>
      <p:sp>
        <p:nvSpPr>
          <p:cNvPr id="15" name="Mũi tên: Xuống 14">
            <a:extLst>
              <a:ext uri="{FF2B5EF4-FFF2-40B4-BE49-F238E27FC236}">
                <a16:creationId xmlns:a16="http://schemas.microsoft.com/office/drawing/2014/main" id="{071F98F9-789B-AC29-F68F-56B99405A058}"/>
              </a:ext>
            </a:extLst>
          </p:cNvPr>
          <p:cNvSpPr/>
          <p:nvPr/>
        </p:nvSpPr>
        <p:spPr>
          <a:xfrm>
            <a:off x="12401795" y="3832625"/>
            <a:ext cx="381000" cy="160020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ECA60622-219F-60C8-75F5-F4EC3D7072BC}"/>
              </a:ext>
            </a:extLst>
          </p:cNvPr>
          <p:cNvSpPr/>
          <p:nvPr/>
        </p:nvSpPr>
        <p:spPr>
          <a:xfrm>
            <a:off x="457199" y="6344193"/>
            <a:ext cx="17115801" cy="32443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1. Phân tích dữ liệu lịch sử</a:t>
            </a:r>
            <a:endParaRPr lang="vi-VN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Thu thập 300K+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videos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trending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(2020-2024)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Phân tích theo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category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thời gian, tương tác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Trích xuất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insights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về hành vi người dùng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Huấn luyện mô hình học máy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pattern-based</a:t>
            </a:r>
            <a:endParaRPr lang="vi-VN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vi-VN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2. Xây dựng hệ thống </a:t>
            </a:r>
            <a:r>
              <a:rPr lang="vi-VN" sz="24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real-time</a:t>
            </a:r>
            <a:endParaRPr lang="vi-VN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Crawl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từ </a:t>
            </a:r>
            <a:r>
              <a:rPr lang="vi-VN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YouTube</a:t>
            </a: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Hiển thị phân tích hành vi người dùng theo thời gian thực và dự đoán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853EA7EE-FF70-3F31-6E45-A99FFBC055D7}"/>
              </a:ext>
            </a:extLst>
          </p:cNvPr>
          <p:cNvSpPr/>
          <p:nvPr/>
        </p:nvSpPr>
        <p:spPr>
          <a:xfrm>
            <a:off x="457200" y="5716584"/>
            <a:ext cx="17115801" cy="6587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Mục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tiêu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nghiên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cứu</a:t>
            </a:r>
            <a:endParaRPr lang="en-US" sz="2800" b="1" dirty="0">
              <a:solidFill>
                <a:schemeClr val="tx1"/>
              </a:solidFill>
              <a:latin typeface="Cambria Bold" panose="02040803050406030204" pitchFamily="18" charset="0"/>
            </a:endParaRP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306B6EE0-523D-84B6-4675-9B20FBCACCDD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5" name="Group 8">
            <a:extLst>
              <a:ext uri="{FF2B5EF4-FFF2-40B4-BE49-F238E27FC236}">
                <a16:creationId xmlns:a16="http://schemas.microsoft.com/office/drawing/2014/main" id="{8E12F87E-D31D-E8A6-805A-203CE33F98B6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7DB010C9-C83F-9C77-4D1E-93DAB82D6440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5A1FC345-2D5D-807B-2A54-00BC8A0D653C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B9EB9931-CD00-5418-7242-AD2A2D294E13}"/>
              </a:ext>
            </a:extLst>
          </p:cNvPr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4/27</a:t>
            </a:r>
          </a:p>
        </p:txBody>
      </p:sp>
    </p:spTree>
    <p:extLst>
      <p:ext uri="{BB962C8B-B14F-4D97-AF65-F5344CB8AC3E}">
        <p14:creationId xmlns:p14="http://schemas.microsoft.com/office/powerpoint/2010/main" val="316109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30347-3D4A-D268-5420-2F502B24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43C852-8645-2818-09A3-3E2C905F59F8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429FA05E-1B5C-3E76-7634-E6202BA385FA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54833E9D-D36C-AA35-13BF-6D086D67DD0E}"/>
              </a:ext>
            </a:extLst>
          </p:cNvPr>
          <p:cNvSpPr/>
          <p:nvPr/>
        </p:nvSpPr>
        <p:spPr>
          <a:xfrm>
            <a:off x="3619500" y="2374385"/>
            <a:ext cx="11049000" cy="4876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2,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Kiến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trúc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hệ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thống</a:t>
            </a:r>
            <a:endParaRPr lang="en-US" sz="6000" b="1" dirty="0">
              <a:solidFill>
                <a:schemeClr val="tx1"/>
              </a:solidFill>
              <a:latin typeface="Cambria Bold" panose="02040803050406030204" pitchFamily="18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5999AFB-1C1E-89C7-9027-7E480F1E83A8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A107F6A4-DD1F-D18E-465E-6A0E5EFF8730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5583770A-0E60-86B6-69EA-3229903B349C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833EFD1F-52D9-7BCE-FD10-DE584E9333D3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9F6B681F-5E66-B456-1CD7-04CED05E1D02}"/>
              </a:ext>
            </a:extLst>
          </p:cNvPr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5/27</a:t>
            </a:r>
          </a:p>
        </p:txBody>
      </p:sp>
    </p:spTree>
    <p:extLst>
      <p:ext uri="{BB962C8B-B14F-4D97-AF65-F5344CB8AC3E}">
        <p14:creationId xmlns:p14="http://schemas.microsoft.com/office/powerpoint/2010/main" val="402152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3604BBDD-9A11-D7A5-F6A5-4DCA57DFA7C6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798F7001-2CB6-833F-D394-8C2C46858432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Kiến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trúc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hệ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thống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2FB2FD2-7383-F5FF-CF3D-2CED4C83D346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02</a:t>
            </a:r>
          </a:p>
        </p:txBody>
      </p:sp>
      <p:pic>
        <p:nvPicPr>
          <p:cNvPr id="26" name="Hình ảnh 25">
            <a:extLst>
              <a:ext uri="{FF2B5EF4-FFF2-40B4-BE49-F238E27FC236}">
                <a16:creationId xmlns:a16="http://schemas.microsoft.com/office/drawing/2014/main" id="{FB853102-C9B7-F7F4-E7F2-21A6F49BE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79" y="5143500"/>
            <a:ext cx="17333042" cy="4211637"/>
          </a:xfrm>
          <a:prstGeom prst="rect">
            <a:avLst/>
          </a:prstGeom>
        </p:spPr>
      </p:pic>
      <p:sp>
        <p:nvSpPr>
          <p:cNvPr id="27" name="TextBox 12">
            <a:extLst>
              <a:ext uri="{FF2B5EF4-FFF2-40B4-BE49-F238E27FC236}">
                <a16:creationId xmlns:a16="http://schemas.microsoft.com/office/drawing/2014/main" id="{8F2E81F7-CDD4-FCD0-DDC5-91F203DD2ABD}"/>
              </a:ext>
            </a:extLst>
          </p:cNvPr>
          <p:cNvSpPr txBox="1"/>
          <p:nvPr/>
        </p:nvSpPr>
        <p:spPr>
          <a:xfrm>
            <a:off x="636919" y="1303680"/>
            <a:ext cx="14435319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Công nghệ sử dụng:</a:t>
            </a:r>
            <a:endParaRPr lang="en-US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YouTube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API v3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- Thu thập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metadata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videos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Kafka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Zookeeper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-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Message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real-time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streaming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PySpark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- Xử lý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big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phân tán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MongoDB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- Lưu trữ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NoSQL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cho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real-time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Gradient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Boosted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Trees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- ML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dự đoán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Flask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- REST API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server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Chart.js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-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Visualization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dashboard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vi-V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C158C0A-6CDD-8226-1731-B5C0F13F2286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1DDA416E-B97B-5815-CECA-EE2C5126B729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485E2745-7550-315E-65C0-990AB604A3CF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F97C1D24-E5B6-FD19-F9F6-08224A5BDC2D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8ABEF6FE-3817-339A-D50F-96600FBBE840}"/>
              </a:ext>
            </a:extLst>
          </p:cNvPr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6/27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E4E3-A75F-B40A-5C4D-1B155120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0CE754-F2BE-34BF-BC77-D7076585791E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F901445-8F24-C14E-BC53-54CD0005FF65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CF99C338-CAB1-3918-5D62-D4590038ED6C}"/>
              </a:ext>
            </a:extLst>
          </p:cNvPr>
          <p:cNvSpPr/>
          <p:nvPr/>
        </p:nvSpPr>
        <p:spPr>
          <a:xfrm>
            <a:off x="3619500" y="2374385"/>
            <a:ext cx="11049000" cy="4876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3,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Dữ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liệu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và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</a:p>
          <a:p>
            <a:pPr algn="ctr"/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tiền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xử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lý</a:t>
            </a:r>
            <a:endParaRPr lang="en-US" sz="6000" b="1" dirty="0">
              <a:solidFill>
                <a:schemeClr val="tx1"/>
              </a:solidFill>
              <a:latin typeface="Cambria Bold" panose="02040803050406030204" pitchFamily="18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1B68F25F-1362-C0DD-950D-813BAF2C6A3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7E10B382-068E-3409-8597-664BDF2E83BD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DC2DDB20-AF62-766A-9561-C4936C84C46F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72F846A2-4078-9E28-7DA4-331E5916C2D2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B92B714D-5EF0-FE61-3101-45BF6ED7CA9F}"/>
              </a:ext>
            </a:extLst>
          </p:cNvPr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7/27</a:t>
            </a:r>
          </a:p>
        </p:txBody>
      </p:sp>
    </p:spTree>
    <p:extLst>
      <p:ext uri="{BB962C8B-B14F-4D97-AF65-F5344CB8AC3E}">
        <p14:creationId xmlns:p14="http://schemas.microsoft.com/office/powerpoint/2010/main" val="406616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08429-A623-0481-47EC-01A41B7B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47873C-7480-25E9-6A18-9038E7721713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3BDFDA9-5F92-DBA1-78D4-63E1D0D1AEA0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95855BF-0465-A4FC-2715-AC9E8F34DE77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Dữ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liệu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và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tiền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xử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lý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3EEAE54-6583-E52A-3E48-168C6B6CA8ED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03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3A99273-C647-ED86-5E7E-F76A53343BFB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DAC7FD4D-F67F-E237-1A00-2709D1CA0E0A}"/>
              </a:ext>
            </a:extLst>
          </p:cNvPr>
          <p:cNvSpPr txBox="1"/>
          <p:nvPr/>
        </p:nvSpPr>
        <p:spPr>
          <a:xfrm>
            <a:off x="1099832" y="1648979"/>
            <a:ext cx="647795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Nguồn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dữ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liệu</a:t>
            </a:r>
            <a:endParaRPr lang="en-US" sz="28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US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1, Kaggle Dataset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313,360 videos trending (2020-2024, US region)</a:t>
            </a:r>
          </a:p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2, YouTube API 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Crawl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mỗi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10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phút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mỗi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lần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50 videos</a:t>
            </a: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Chạy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liên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tục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24/7</a:t>
            </a: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Cho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tất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cả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vào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file raw_data.csv</a:t>
            </a:r>
          </a:p>
          <a:p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B7D8A362-404C-7D90-4B8B-5C77EE8BEF3D}"/>
              </a:ext>
            </a:extLst>
          </p:cNvPr>
          <p:cNvSpPr txBox="1"/>
          <p:nvPr/>
        </p:nvSpPr>
        <p:spPr>
          <a:xfrm>
            <a:off x="7958755" y="1638588"/>
            <a:ext cx="957244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Tiền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xử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lý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PySpark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algn="ctr"/>
            <a:endParaRPr lang="en-US" sz="28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1,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Làm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sạch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Loại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bỏ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NULL,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sai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format, duplicates</a:t>
            </a: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Kết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quả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208,906 samples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(66.7%)</a:t>
            </a:r>
          </a:p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2,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Chuẩn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hóa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Parse timestamps (ISO 8601)</a:t>
            </a: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Convert metrics sang numeric</a:t>
            </a: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Map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categoryId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→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tên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3, Feature Engineering: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Extract: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publish_hour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day_of_week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Calculate: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engagement_rate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time-to-trending</a:t>
            </a:r>
          </a:p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4, Output: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Cambria Math" panose="02040503050406030204" pitchFamily="18" charset="0"/>
              <a:buChar char="–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preprocessed_data.csv -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Dùng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cho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cả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Batch analysis &amp; ML training</a:t>
            </a:r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6A48BC44-C4DF-CADA-65EE-EF10CA8F5C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55" y="7159941"/>
            <a:ext cx="16669063" cy="2462213"/>
          </a:xfrm>
          <a:prstGeom prst="rect">
            <a:avLst/>
          </a:prstGeom>
        </p:spPr>
      </p:pic>
      <p:cxnSp>
        <p:nvCxnSpPr>
          <p:cNvPr id="15" name="Đường nối Thẳng 14">
            <a:extLst>
              <a:ext uri="{FF2B5EF4-FFF2-40B4-BE49-F238E27FC236}">
                <a16:creationId xmlns:a16="http://schemas.microsoft.com/office/drawing/2014/main" id="{BAEA1174-846A-93D4-B380-5ADFBE4A1A82}"/>
              </a:ext>
            </a:extLst>
          </p:cNvPr>
          <p:cNvCxnSpPr>
            <a:cxnSpLocks/>
          </p:cNvCxnSpPr>
          <p:nvPr/>
        </p:nvCxnSpPr>
        <p:spPr>
          <a:xfrm>
            <a:off x="3043407" y="2247900"/>
            <a:ext cx="2590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nối Thẳng 17">
            <a:extLst>
              <a:ext uri="{FF2B5EF4-FFF2-40B4-BE49-F238E27FC236}">
                <a16:creationId xmlns:a16="http://schemas.microsoft.com/office/drawing/2014/main" id="{2AC85FA6-BD40-D6AD-A49B-CFA0D55B882D}"/>
              </a:ext>
            </a:extLst>
          </p:cNvPr>
          <p:cNvCxnSpPr>
            <a:cxnSpLocks/>
          </p:cNvCxnSpPr>
          <p:nvPr/>
        </p:nvCxnSpPr>
        <p:spPr>
          <a:xfrm>
            <a:off x="10878075" y="2247900"/>
            <a:ext cx="3733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1">
            <a:extLst>
              <a:ext uri="{FF2B5EF4-FFF2-40B4-BE49-F238E27FC236}">
                <a16:creationId xmlns:a16="http://schemas.microsoft.com/office/drawing/2014/main" id="{C5D7D1C2-42B3-9A8E-821E-526DCBEE2BE9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1D75B705-B925-4F46-FC0B-7FDF0754EDAB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0" name="Group 8">
            <a:extLst>
              <a:ext uri="{FF2B5EF4-FFF2-40B4-BE49-F238E27FC236}">
                <a16:creationId xmlns:a16="http://schemas.microsoft.com/office/drawing/2014/main" id="{AEADC9FF-AC00-DFA4-2741-B48A0D901A80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990EBE07-1924-A9FE-B98D-4776B21A733B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11">
            <a:extLst>
              <a:ext uri="{FF2B5EF4-FFF2-40B4-BE49-F238E27FC236}">
                <a16:creationId xmlns:a16="http://schemas.microsoft.com/office/drawing/2014/main" id="{42EFDF66-F973-7ACA-DA69-AFCE0D63313B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B39F5B47-7AF2-B17B-FD3D-2259DB2F4851}"/>
              </a:ext>
            </a:extLst>
          </p:cNvPr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8/27</a:t>
            </a:r>
          </a:p>
        </p:txBody>
      </p:sp>
    </p:spTree>
    <p:extLst>
      <p:ext uri="{BB962C8B-B14F-4D97-AF65-F5344CB8AC3E}">
        <p14:creationId xmlns:p14="http://schemas.microsoft.com/office/powerpoint/2010/main" val="235920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85025-0F79-B3DC-E864-24FADFCA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62048D-6628-CE9C-89B3-10DE116BD7DB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0F54E4EA-7FE9-1A39-E279-2E7515CDD04E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7D21EC2E-2152-5B95-F93E-D590887C47A5}"/>
              </a:ext>
            </a:extLst>
          </p:cNvPr>
          <p:cNvSpPr/>
          <p:nvPr/>
        </p:nvSpPr>
        <p:spPr>
          <a:xfrm>
            <a:off x="3619500" y="2374385"/>
            <a:ext cx="11049000" cy="4876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4,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Phân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tích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dữ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liệu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tĩnh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(Batch processing) 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C5909BC8-DF7D-82B5-ECD9-C87D252798EF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5943C8F7-82E5-3E9D-4AB3-36725EFC4609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203CFEB-2585-03B0-2816-3DA58B79A244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5A67F7D1-6A9E-5D74-9821-279C3FD19978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F92C9160-8B0B-CBBB-4016-989BD33448D2}"/>
              </a:ext>
            </a:extLst>
          </p:cNvPr>
          <p:cNvSpPr txBox="1"/>
          <p:nvPr/>
        </p:nvSpPr>
        <p:spPr>
          <a:xfrm>
            <a:off x="17146511" y="9859975"/>
            <a:ext cx="835635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9/27</a:t>
            </a:r>
          </a:p>
        </p:txBody>
      </p:sp>
    </p:spTree>
    <p:extLst>
      <p:ext uri="{BB962C8B-B14F-4D97-AF65-F5344CB8AC3E}">
        <p14:creationId xmlns:p14="http://schemas.microsoft.com/office/powerpoint/2010/main" val="2944892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6923-D66F-7E29-5609-6E3BA1A4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F026E0-498F-22C2-F30E-FC13D9239780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AD78845-BF1A-A5AD-5ED8-B8EB20D24C0D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A9D99F-8CE5-E22C-3FB5-091E01F70DC5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Phân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tích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theo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thể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loại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F4056A-5444-A4FB-BF2B-D25542A19E2E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4.1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10BF39D-02C3-0412-D3DE-611431EFE085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9C6FBAEE-0B1D-4844-6DF6-EA6DF5065E49}"/>
              </a:ext>
            </a:extLst>
          </p:cNvPr>
          <p:cNvSpPr txBox="1"/>
          <p:nvPr/>
        </p:nvSpPr>
        <p:spPr>
          <a:xfrm>
            <a:off x="636919" y="1538403"/>
            <a:ext cx="173451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loại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nhiều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video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nhất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Entertainment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dẫn đầu (21.4%),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(14.9%),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(9.3%)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loại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nhiều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lượt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xem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nhất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cao nhất 3.8M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avg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Entertainment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2.8M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avg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loại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nhiều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kênh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youtube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nhất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Entertainment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đa dạng nhất với 10,957 kênh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unique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loại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độ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tương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tác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bình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cao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nhất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5.8%,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4.2% - cao hơn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Entertainment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3.1%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Mức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độ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tập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kênh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Tổng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video/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tổng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kênh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tập trung 18.2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/kênh,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Entertainment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phân tán 4.1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loại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tỉ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lệ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like/dislike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cao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nhất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tích cực 120:1,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tranh cãi 85:1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like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dislike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Những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video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tiêu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biểu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cho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mỗi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loại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đều vượt 10M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views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MV chiếm ưu thế</a:t>
            </a:r>
          </a:p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Insight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ROI cao nhất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view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engagement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 nhưng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barrier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cao do các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label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thống trị.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Entertainment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phù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hợp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hơn cho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creators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cá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nhân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với tỷ lệ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/kênh thấp.</a:t>
            </a:r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CAFCE45B-9B24-9B7E-7F59-EDF0EDE5C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559" y="5174673"/>
            <a:ext cx="15848145" cy="4523510"/>
          </a:xfrm>
          <a:prstGeom prst="rect">
            <a:avLst/>
          </a:prstGeom>
        </p:spPr>
      </p:pic>
      <p:sp>
        <p:nvSpPr>
          <p:cNvPr id="20" name="TextBox 4">
            <a:extLst>
              <a:ext uri="{FF2B5EF4-FFF2-40B4-BE49-F238E27FC236}">
                <a16:creationId xmlns:a16="http://schemas.microsoft.com/office/drawing/2014/main" id="{84201180-2A45-8539-98D3-7B0FD86131E0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1" name="Group 8">
            <a:extLst>
              <a:ext uri="{FF2B5EF4-FFF2-40B4-BE49-F238E27FC236}">
                <a16:creationId xmlns:a16="http://schemas.microsoft.com/office/drawing/2014/main" id="{6C6AA2AF-AA56-6C73-4A48-AD082E722283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AD30A35E-BD43-D492-61C9-361F3FC6A737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11">
            <a:extLst>
              <a:ext uri="{FF2B5EF4-FFF2-40B4-BE49-F238E27FC236}">
                <a16:creationId xmlns:a16="http://schemas.microsoft.com/office/drawing/2014/main" id="{85A937AB-C7B2-5022-C278-53D36CA71511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516A75FF-10AE-CDB2-B552-A164B9556ADD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10/27</a:t>
            </a:r>
          </a:p>
        </p:txBody>
      </p:sp>
    </p:spTree>
    <p:extLst>
      <p:ext uri="{BB962C8B-B14F-4D97-AF65-F5344CB8AC3E}">
        <p14:creationId xmlns:p14="http://schemas.microsoft.com/office/powerpoint/2010/main" val="3321761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B9819-374B-8B37-621F-FE24FD07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E035F9-D333-4932-E328-AC42B6152982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7CADE99-4FC9-5531-5CFA-E7D2258375B0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91EDA05-A75A-6B22-F74C-4106C76E2266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Phân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tích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theo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thể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loại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9DC2125-46F4-7757-8727-557651CA8A59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4.1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54789D4-13C7-910E-CC9E-FE23514DC854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4D4157E7-FDF1-616A-796A-AFC3A85FE3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0199" y="1234440"/>
            <a:ext cx="13667602" cy="8108483"/>
          </a:xfrm>
          <a:prstGeom prst="rect">
            <a:avLst/>
          </a:prstGeom>
        </p:spPr>
      </p:pic>
      <p:sp>
        <p:nvSpPr>
          <p:cNvPr id="19" name="TextBox 4">
            <a:extLst>
              <a:ext uri="{FF2B5EF4-FFF2-40B4-BE49-F238E27FC236}">
                <a16:creationId xmlns:a16="http://schemas.microsoft.com/office/drawing/2014/main" id="{962850CA-C7D5-164E-75F9-AE16439F2679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0" name="Group 8">
            <a:extLst>
              <a:ext uri="{FF2B5EF4-FFF2-40B4-BE49-F238E27FC236}">
                <a16:creationId xmlns:a16="http://schemas.microsoft.com/office/drawing/2014/main" id="{D0C9271D-DB6C-534D-8DB2-1C4DA1D96CC5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A632F908-4642-F1A4-B81A-FBE669862B98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11">
            <a:extLst>
              <a:ext uri="{FF2B5EF4-FFF2-40B4-BE49-F238E27FC236}">
                <a16:creationId xmlns:a16="http://schemas.microsoft.com/office/drawing/2014/main" id="{705A534D-C894-6791-3EC6-0E649B899683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9E4C3E4E-1826-AC31-AE75-2383EA9018A3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11/27</a:t>
            </a:r>
          </a:p>
        </p:txBody>
      </p:sp>
    </p:spTree>
    <p:extLst>
      <p:ext uri="{BB962C8B-B14F-4D97-AF65-F5344CB8AC3E}">
        <p14:creationId xmlns:p14="http://schemas.microsoft.com/office/powerpoint/2010/main" val="1475983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8DE22-DE57-658C-73F2-21A37E86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BD3382-5813-0B30-919B-8CF6D254F80A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B25FF6B-6E6F-C0F6-9B69-16A7646DCA0E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6BD93C2-4F4E-531E-E258-F9B196D818C1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5DCB780-B824-0CD5-232F-5324E6DED0A3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4FF4A1-09F4-A1F2-F8AF-A98684887FD0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Phân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tích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theo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thời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gian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77EF8C2-BE11-2D0D-0B7B-F11556D65899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4.2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4E03BF4-652A-DA49-A313-B6B9EE2A7FEA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3722A7B-3A18-EEBC-6C75-ADC766005ACB}"/>
              </a:ext>
            </a:extLst>
          </p:cNvPr>
          <p:cNvSpPr txBox="1"/>
          <p:nvPr/>
        </p:nvSpPr>
        <p:spPr>
          <a:xfrm>
            <a:off x="636919" y="1538403"/>
            <a:ext cx="1734513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video upload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mỗi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giờ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Peak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14-17h với 15,000+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thấp nhất 4-7h sáng (&lt;5,000)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video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mỗi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ngày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trong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tuần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Thứ 5-6 cao nhất, Chủ nhật giảm 30% so với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weekday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video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lên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xu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hướng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mỗi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ngày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trong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tuần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trending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nhiều nhất vào Thứ 3-5 trong tuần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Thời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gian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kể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từ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upload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đến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lên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xu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hướng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nhanh nhất 1.4 ngày,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1.5 ngày,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Comedy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1.6 ngày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Tương tác theo giờ: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15-18h có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engagement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cao nhất (~5%), 3-6h thấp nhất (~2.8%)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Tuổi thọ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xu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hướng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trung bình 6.1 ngày,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Education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trụ lâu hơn ~5.8 ngày</a:t>
            </a:r>
          </a:p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Insight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Thời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điểm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để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đăng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video 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là 14-17h Thứ 5-6 để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tối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hóa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khả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năng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được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lên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xu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hướng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Âm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nhạc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viral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nhanh nhưng "nguội" nhanh,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content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bền hơn.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99F88A77-AA97-FCB2-7327-858A3ABA20C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9B28DB65-2EAD-9F7C-FD00-0BEC555B66A8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2F4A4941-39E0-02B7-29F0-C402B7685118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12</a:t>
            </a: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66F3F632-4EAC-2DF8-474C-82B196BDCFE8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036CB9BC-848D-3060-7EAE-1D03A78F6BD8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75A3AA90-2CF8-55F4-260A-D35E287CD940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4FBAEF67-B81B-B25A-8BAF-78DC9CE8372F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72CC5EE9-C30D-E338-86E6-12C7B1813FFF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12/27</a:t>
            </a:r>
          </a:p>
        </p:txBody>
      </p:sp>
    </p:spTree>
    <p:extLst>
      <p:ext uri="{BB962C8B-B14F-4D97-AF65-F5344CB8AC3E}">
        <p14:creationId xmlns:p14="http://schemas.microsoft.com/office/powerpoint/2010/main" val="65286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F42B-5C5C-284C-ADF0-D2A09F641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837769-A542-9234-8CF0-8C1E75FF1117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A80928-78F1-7D26-7120-DBDC7D345F2F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5B0E35-9190-4E2E-2078-14A07CB4C18A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 dirty="0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394661E-A32A-F42E-BBA1-7193D6A799B5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A043149-F633-DF85-2646-1D8C9A853F2F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Phân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tích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theo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thời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gian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D2A6EF4-4315-0C55-71F0-1C8B360C00E9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4.2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400E8920-FD37-8070-7DE3-C6A2618F0AD2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314351F4-6C27-7218-DAF0-BBCA9BAE8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800" y="1188205"/>
            <a:ext cx="12192000" cy="3972613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62A32D05-7F1C-AB80-F49C-A93E2B6D6A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5296563"/>
            <a:ext cx="10134600" cy="4304833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661D8CB0-5140-CC99-789B-CF12DA11C134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6803F2B9-0A85-9F16-D811-7612FD7E2006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80F00EF1-92FD-A58C-CDA7-58889D1181E2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13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C128EF78-C51F-A258-1E8A-EB5C85B52BE1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8" name="Group 8">
            <a:extLst>
              <a:ext uri="{FF2B5EF4-FFF2-40B4-BE49-F238E27FC236}">
                <a16:creationId xmlns:a16="http://schemas.microsoft.com/office/drawing/2014/main" id="{793F464C-420B-687A-424F-316D8253A0D9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FB7917D4-AFAA-22A9-101E-7452622E00C6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11">
            <a:extLst>
              <a:ext uri="{FF2B5EF4-FFF2-40B4-BE49-F238E27FC236}">
                <a16:creationId xmlns:a16="http://schemas.microsoft.com/office/drawing/2014/main" id="{6CF4134D-0283-38D9-E6C0-9D328D6D76C3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0F7893F4-A49E-B808-5F6A-83240F90E60B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13/27</a:t>
            </a:r>
          </a:p>
        </p:txBody>
      </p:sp>
    </p:spTree>
    <p:extLst>
      <p:ext uri="{BB962C8B-B14F-4D97-AF65-F5344CB8AC3E}">
        <p14:creationId xmlns:p14="http://schemas.microsoft.com/office/powerpoint/2010/main" val="268030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C74A9-4E2C-4880-A2C7-12139629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694800-5733-7D7A-002B-7A4920984FD6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3859901-5F6C-3527-5F6F-786CF0AC85E7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8E642F3-E5AD-F08F-4D94-F60A7F22D033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9B70003-911C-D076-5800-7B0B05666173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9A95D05-A980-1032-0722-6022C84F79C7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Phân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tích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theo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lượt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tương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tác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0DB1D6-650D-C505-4F03-A3CDC19901FA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4.3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39ECFA04-6207-52E5-3305-8EBC777C9814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C69633D4-D8B0-5C5E-80E4-C0D256AB3DB3}"/>
              </a:ext>
            </a:extLst>
          </p:cNvPr>
          <p:cNvSpPr txBox="1"/>
          <p:nvPr/>
        </p:nvSpPr>
        <p:spPr>
          <a:xfrm>
            <a:off x="636919" y="1538403"/>
            <a:ext cx="1734513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lượt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xem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cao nhất 225M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views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MV), trung bình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100 là 45M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lượt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tương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tác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đạt 8.5%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engagement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rate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với cộng đồng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hardcore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l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ượt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thích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MV dẫn đầu 13.9M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likes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tỷ lệ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like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view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trung bình 4.2%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comments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Controversial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5.2M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comments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gấp 3x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Top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tỉ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lệ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tương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tác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(4.2%),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Music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(5.8%),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thấp (2.1%) -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passive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viewing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Tương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quan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Views-Likes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(0.89 mạnh),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Comments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phụ thuộc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controversy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không phải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quality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Insight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Nội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dung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cộng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đồng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chuyên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biệt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 có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độ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tương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tác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cao hơn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nội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dung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đại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chúng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).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xem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cao ≠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độ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tương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tác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cao.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Âm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nhạc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có cả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xem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lẫn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độ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tương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tác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tốt nhất –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mỏ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cho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các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nhà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sáng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tạo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nội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dung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A5261E6F-8A51-7B95-B71B-EE899AA95E8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1262C67E-7D3D-FE6A-54B6-6E44C5A69A8B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0D0D75BD-BAEA-F0A9-F7C7-105D203B2C43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14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3400AAD2-7FC9-4464-AE69-7A1D890CA830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9" name="Group 8">
            <a:extLst>
              <a:ext uri="{FF2B5EF4-FFF2-40B4-BE49-F238E27FC236}">
                <a16:creationId xmlns:a16="http://schemas.microsoft.com/office/drawing/2014/main" id="{19FAA458-9D0E-8872-1E57-CE52970C4993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5B16BC4D-0F30-BDE3-FC61-797C4535B976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11">
            <a:extLst>
              <a:ext uri="{FF2B5EF4-FFF2-40B4-BE49-F238E27FC236}">
                <a16:creationId xmlns:a16="http://schemas.microsoft.com/office/drawing/2014/main" id="{D1991A66-B3DA-7006-DEC7-B10A9E55702D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AC26A388-641A-C79E-7E7F-98E08A9CCA39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14/27</a:t>
            </a:r>
          </a:p>
        </p:txBody>
      </p:sp>
    </p:spTree>
    <p:extLst>
      <p:ext uri="{BB962C8B-B14F-4D97-AF65-F5344CB8AC3E}">
        <p14:creationId xmlns:p14="http://schemas.microsoft.com/office/powerpoint/2010/main" val="579398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D5D4-C929-AF1C-6AC7-CD5187BD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5D1F8D-5F85-03B4-8BB3-83AC3AA30BFC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45EF10F-C7A1-3143-3CE8-4B473309C928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2F164A8-F169-C87C-12F8-09127E681700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3A2F7A1-FE04-FAAA-A512-84FBA22FA2FF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EC87469-CC5F-634C-5F82-11AF4D35B22F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Phân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tích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theo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lượt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tương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tác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A153CD0-75EA-9F11-5EF5-483D451A7D13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4.3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407F1F0-E495-C1B6-849E-08ABD8CEFDE0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F313AEAF-84A9-9519-77EF-46D00D0C7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800" y="1444409"/>
            <a:ext cx="12768263" cy="7947018"/>
          </a:xfrm>
          <a:prstGeom prst="rect">
            <a:avLst/>
          </a:prstGeom>
        </p:spPr>
      </p:pic>
      <p:sp>
        <p:nvSpPr>
          <p:cNvPr id="12" name="TextBox 4">
            <a:extLst>
              <a:ext uri="{FF2B5EF4-FFF2-40B4-BE49-F238E27FC236}">
                <a16:creationId xmlns:a16="http://schemas.microsoft.com/office/drawing/2014/main" id="{5B14CA5F-561D-90E4-3B55-5800690244DE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214C0488-6312-856D-A34F-D731112134D9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E8A494F6-B76C-7B4C-9D8B-AE19DA67F3F4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15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76B604D2-69E9-ADAF-6853-FA4C2F9DF734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8" name="Group 8">
            <a:extLst>
              <a:ext uri="{FF2B5EF4-FFF2-40B4-BE49-F238E27FC236}">
                <a16:creationId xmlns:a16="http://schemas.microsoft.com/office/drawing/2014/main" id="{E0EC9EE8-BE24-D160-D298-03DD76A91C90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0B1B3A46-D4C0-8EBE-506E-5D53354B77AF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11">
            <a:extLst>
              <a:ext uri="{FF2B5EF4-FFF2-40B4-BE49-F238E27FC236}">
                <a16:creationId xmlns:a16="http://schemas.microsoft.com/office/drawing/2014/main" id="{C5AC2E41-C979-3173-E324-BBA62AD2E615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5515F3B7-4F20-6962-811C-30235B6E611F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15/27</a:t>
            </a:r>
          </a:p>
        </p:txBody>
      </p:sp>
    </p:spTree>
    <p:extLst>
      <p:ext uri="{BB962C8B-B14F-4D97-AF65-F5344CB8AC3E}">
        <p14:creationId xmlns:p14="http://schemas.microsoft.com/office/powerpoint/2010/main" val="114155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0E21-4A29-BD28-3CE8-A995B692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7F57C1-50C1-7D87-E596-6BA03B012281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EE5F129-AA1E-8C1C-F959-679A8B6B4335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439E14-60BF-FBD2-72A5-D680B0B9AFB6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B2125EF-5BD9-6311-603A-F21EBC0F230B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09556F1-8AEF-C122-974D-96D99E8DA575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Phân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tích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theo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lượt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tương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tác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4265C7-8AC9-3DD4-F487-3191821A0DE1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4.3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9152CA0-E077-FB57-2DE8-87DA80B5CFC4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3E9E30A3-4B76-F934-4A5B-6536B7052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1587" y="1498114"/>
            <a:ext cx="8124825" cy="7290772"/>
          </a:xfrm>
          <a:prstGeom prst="rect">
            <a:avLst/>
          </a:prstGeom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2E32956B-9AB6-6375-DD2E-E7C030D5CC1A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4039248D-34E0-BAA5-2782-B4D609FD8AD8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7F10CE8E-B9AE-764F-A705-AA945A98AB02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16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8FD69611-9B2B-09C7-5653-04E7F9D9FA94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9" name="Group 8">
            <a:extLst>
              <a:ext uri="{FF2B5EF4-FFF2-40B4-BE49-F238E27FC236}">
                <a16:creationId xmlns:a16="http://schemas.microsoft.com/office/drawing/2014/main" id="{01665BEA-B54F-6156-315C-3EA1C1C41EAA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2C640E48-854A-9DB7-ECBD-3DE8E4C19400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11">
            <a:extLst>
              <a:ext uri="{FF2B5EF4-FFF2-40B4-BE49-F238E27FC236}">
                <a16:creationId xmlns:a16="http://schemas.microsoft.com/office/drawing/2014/main" id="{E74B99AB-A9F3-363F-9133-0934A084F5D4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2569E2A9-1DE3-E123-2DF1-14DFEA7203C4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16/27</a:t>
            </a:r>
          </a:p>
        </p:txBody>
      </p:sp>
    </p:spTree>
    <p:extLst>
      <p:ext uri="{BB962C8B-B14F-4D97-AF65-F5344CB8AC3E}">
        <p14:creationId xmlns:p14="http://schemas.microsoft.com/office/powerpoint/2010/main" val="2308940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49A8-4BF3-3F3B-3505-6F2EE52A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7D472B-5625-03B8-FB5F-1F63365C0B5D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4E7723E-E3D1-0EE1-376B-DC74C2E53C40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50B9645-D257-48C2-A5BF-A0CEB3F0777C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D5E50C45-C854-8A2A-20A2-C024C2C2E6DF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45B8FE16-9DED-C996-B7B9-3B94A7BBF618}"/>
              </a:ext>
            </a:extLst>
          </p:cNvPr>
          <p:cNvSpPr/>
          <p:nvPr/>
        </p:nvSpPr>
        <p:spPr>
          <a:xfrm>
            <a:off x="3619500" y="2374385"/>
            <a:ext cx="11049000" cy="4876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5,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Xử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lý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thời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gian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thực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(Real-time processing)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F4AEBCF-3BCF-2A25-4EAC-7AAAE20458C1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43A665E-71F7-E8BB-072B-BFBFB16B0F7C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D676850-06B0-DE60-0F5E-F75067864BCF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17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21B5AE6A-3DBA-83D3-F239-9CD4AC8B3234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A46FEB3F-6488-2202-E728-639C1B8AB250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2950887-66BA-8278-8275-F5292BB069A7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63887969-E0FF-D57F-A1B1-0F6801FDAE6C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9D1FA0E5-A85F-E90D-E13D-7BAE900D71E1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17/27</a:t>
            </a:r>
          </a:p>
        </p:txBody>
      </p:sp>
    </p:spTree>
    <p:extLst>
      <p:ext uri="{BB962C8B-B14F-4D97-AF65-F5344CB8AC3E}">
        <p14:creationId xmlns:p14="http://schemas.microsoft.com/office/powerpoint/2010/main" val="1717051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55F160-3E31-CCB2-D724-5FDD6CCBA197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F83C6B5-79A9-DEAE-B9C1-E9E41FABB72F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9470DF8-7509-95E2-8BD7-56C55F3CDAA1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B38D37A-ADE4-3941-B81A-F8C48FAA0127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451BF8E-1FC4-35E2-DB70-87FF64DACAE1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Kiến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trúc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2CD061-4A08-E774-DA5B-9C74B2705287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5.1	</a:t>
            </a:r>
          </a:p>
        </p:txBody>
      </p:sp>
      <p:sp>
        <p:nvSpPr>
          <p:cNvPr id="10" name="Freeform 24">
            <a:extLst>
              <a:ext uri="{FF2B5EF4-FFF2-40B4-BE49-F238E27FC236}">
                <a16:creationId xmlns:a16="http://schemas.microsoft.com/office/drawing/2014/main" id="{81752C38-4401-BCD5-E01F-272C5B2D10C0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2" name="Hình ảnh 25">
            <a:extLst>
              <a:ext uri="{FF2B5EF4-FFF2-40B4-BE49-F238E27FC236}">
                <a16:creationId xmlns:a16="http://schemas.microsoft.com/office/drawing/2014/main" id="{AB364E15-79AC-7C0E-CFD5-17E710B2E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984" y="3313798"/>
            <a:ext cx="11132595" cy="2705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2517D3-2BA7-2C37-55A6-EA988C8BF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1852" y="3313799"/>
            <a:ext cx="5956271" cy="2705032"/>
          </a:xfrm>
          <a:prstGeom prst="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044C530F-3EE0-9A12-DB6F-1D3DD1029A19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E9881DC-B8FD-41E0-5E20-51D251788E46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11B4D52D-2269-3D4B-D270-6DF35EBCA4AF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18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89FB574E-38AA-275A-C2E4-321435826EF1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B7A25C09-4048-6942-EEE6-4A150048BCBC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B5B45D77-CB99-AE29-E367-B0B412DE1204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E5359AF5-9517-EFAA-C1DE-54ABF3270E76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93644CC9-AC97-EE21-4F57-92C809EB85E7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18/27</a:t>
            </a:r>
          </a:p>
        </p:txBody>
      </p:sp>
    </p:spTree>
    <p:extLst>
      <p:ext uri="{BB962C8B-B14F-4D97-AF65-F5344CB8AC3E}">
        <p14:creationId xmlns:p14="http://schemas.microsoft.com/office/powerpoint/2010/main" val="1857575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84F7-029A-0E99-B9A5-C596A19C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7D7091-6A5E-3800-F8B4-9B487B40D3D4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2F1DD1E-C9E8-95B5-9833-BE35C533B5E4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8EA1ECB-AF9C-1C56-AD5B-C085D79AF6DD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AC5AEE2-86F7-32A3-46D1-811264196BE2}"/>
              </a:ext>
            </a:extLst>
          </p:cNvPr>
          <p:cNvSpPr/>
          <p:nvPr/>
        </p:nvSpPr>
        <p:spPr>
          <a:xfrm>
            <a:off x="1828800" y="549036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2EAAB94-3AA9-E88A-654C-D6E79835E4AB}"/>
              </a:ext>
            </a:extLst>
          </p:cNvPr>
          <p:cNvSpPr txBox="1"/>
          <p:nvPr/>
        </p:nvSpPr>
        <p:spPr>
          <a:xfrm>
            <a:off x="1905000" y="549036"/>
            <a:ext cx="9307182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60"/>
              </a:lnSpc>
            </a:pPr>
            <a:r>
              <a:rPr lang="vi-VN" sz="4000" dirty="0">
                <a:latin typeface="Cambria Bold" panose="02040803050406030204" pitchFamily="18" charset="0"/>
              </a:rPr>
              <a:t>Backend AP</a:t>
            </a:r>
            <a:r>
              <a:rPr lang="en-US" sz="4000" dirty="0">
                <a:latin typeface="Cambria Bold" panose="02040803050406030204" pitchFamily="18" charset="0"/>
              </a:rPr>
              <a:t>I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447D59-BF6E-E15D-F1D8-0D38FC88B0FF}"/>
              </a:ext>
            </a:extLst>
          </p:cNvPr>
          <p:cNvSpPr txBox="1"/>
          <p:nvPr/>
        </p:nvSpPr>
        <p:spPr>
          <a:xfrm>
            <a:off x="636919" y="505050"/>
            <a:ext cx="1268081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5.1.1</a:t>
            </a:r>
          </a:p>
        </p:txBody>
      </p:sp>
      <p:sp>
        <p:nvSpPr>
          <p:cNvPr id="10" name="Freeform 24">
            <a:extLst>
              <a:ext uri="{FF2B5EF4-FFF2-40B4-BE49-F238E27FC236}">
                <a16:creationId xmlns:a16="http://schemas.microsoft.com/office/drawing/2014/main" id="{A85D6449-410A-DE3A-51F0-DCBEA905EB0D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BF0F517C-4C74-E478-58CE-01070670343C}"/>
              </a:ext>
            </a:extLst>
          </p:cNvPr>
          <p:cNvSpPr txBox="1"/>
          <p:nvPr/>
        </p:nvSpPr>
        <p:spPr>
          <a:xfrm>
            <a:off x="636919" y="1538403"/>
            <a:ext cx="173451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Thay vì để giao diện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web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kết nối trực tiếp vào cơ sở dữ liệu (điều này không an toàn và kém hiệu quả), nhóm phát triển xây dựng một lớp API trung gian sử dụng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Flask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Framework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Vai trò: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Đóng vai trò cầu nối, truy vấn dữ liệu đã xử lý từ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MongoDB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và trả về dưới dạng JSON chuẩn hóa.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Cơ chế CORS: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Sử dụng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flask_cors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để cho phép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Cross-Origin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Resource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Sharing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giúp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Dashboard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(chạy trên trình duyệt) có thể gọi dữ liệu từ Server mà không bị chặn bảo mật.</a:t>
            </a:r>
          </a:p>
          <a:p>
            <a:pPr marL="342900" indent="-342900">
              <a:buFont typeface="Cambria Math" panose="02040503050406030204" pitchFamily="18" charset="0"/>
              <a:buChar char="–"/>
            </a:pP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Các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Endpoint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chính: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api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realtime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 Truy xuất 100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mới nhất được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Spark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xử lý, sắp xếp theo thời gian thực.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api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predictions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 Truy xuất danh sách các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video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được mô hình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Machine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Learning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dự báo có tiềm năng tăng trưởng cao nhất.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api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health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Endpoint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kiểm tra trạng thái kết nối của hệ thống và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Database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23FB5B69-6A39-4F6B-8899-DA9277AE7A4B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21235BDE-39EE-7C39-1E0B-5CBC2BF2B229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EA501C7-D30F-D6BD-8DF5-BF3A308A4097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19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3D5EFE16-19BC-158A-A952-4BF8DF9B7C7F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1" name="Group 8">
            <a:extLst>
              <a:ext uri="{FF2B5EF4-FFF2-40B4-BE49-F238E27FC236}">
                <a16:creationId xmlns:a16="http://schemas.microsoft.com/office/drawing/2014/main" id="{E43F16A9-5870-DD1B-515C-52B508D5335A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32C2A5D5-81F6-9FFE-B19E-CDA863011073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11">
            <a:extLst>
              <a:ext uri="{FF2B5EF4-FFF2-40B4-BE49-F238E27FC236}">
                <a16:creationId xmlns:a16="http://schemas.microsoft.com/office/drawing/2014/main" id="{419CF8BA-57E6-C1D6-B769-5F6CE7BE1228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A3FE648C-06BF-4E98-D685-EDC246482F9F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19/27</a:t>
            </a:r>
          </a:p>
        </p:txBody>
      </p:sp>
    </p:spTree>
    <p:extLst>
      <p:ext uri="{BB962C8B-B14F-4D97-AF65-F5344CB8AC3E}">
        <p14:creationId xmlns:p14="http://schemas.microsoft.com/office/powerpoint/2010/main" val="2384632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B6F7-2A87-16F7-6B50-31AA78C5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E2BCEA-7C90-6532-193B-6BC1E3537F2F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544E5DE-531B-B4F5-3AC0-2C6220C9A3F7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335FF23-C4BD-A7F1-27AB-9E18828138E5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BC9DCDE-BA12-FD79-F2FB-036E47E2F8D6}"/>
              </a:ext>
            </a:extLst>
          </p:cNvPr>
          <p:cNvSpPr/>
          <p:nvPr/>
        </p:nvSpPr>
        <p:spPr>
          <a:xfrm>
            <a:off x="1828800" y="549036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8330926-9E81-6EC5-E5D2-C1264B3B022B}"/>
              </a:ext>
            </a:extLst>
          </p:cNvPr>
          <p:cNvSpPr txBox="1"/>
          <p:nvPr/>
        </p:nvSpPr>
        <p:spPr>
          <a:xfrm>
            <a:off x="1905000" y="549036"/>
            <a:ext cx="9307182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60"/>
              </a:lnSpc>
            </a:pPr>
            <a:r>
              <a:rPr lang="vi-VN" sz="4000" dirty="0">
                <a:latin typeface="Cambria Bold" panose="02040803050406030204" pitchFamily="18" charset="0"/>
              </a:rPr>
              <a:t>Frontend Dashboard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C95DAFA-01DC-0617-84FC-FF49CCF4EEA9}"/>
              </a:ext>
            </a:extLst>
          </p:cNvPr>
          <p:cNvSpPr txBox="1"/>
          <p:nvPr/>
        </p:nvSpPr>
        <p:spPr>
          <a:xfrm>
            <a:off x="636919" y="505050"/>
            <a:ext cx="1268081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5.1.2</a:t>
            </a:r>
          </a:p>
        </p:txBody>
      </p:sp>
      <p:sp>
        <p:nvSpPr>
          <p:cNvPr id="10" name="Freeform 24">
            <a:extLst>
              <a:ext uri="{FF2B5EF4-FFF2-40B4-BE49-F238E27FC236}">
                <a16:creationId xmlns:a16="http://schemas.microsoft.com/office/drawing/2014/main" id="{D93F79D0-162A-48FF-ECBC-992B252A961D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9C67B189-4388-C5D1-7BF1-4B9653AB9FD2}"/>
              </a:ext>
            </a:extLst>
          </p:cNvPr>
          <p:cNvSpPr txBox="1"/>
          <p:nvPr/>
        </p:nvSpPr>
        <p:spPr>
          <a:xfrm>
            <a:off x="636919" y="1538403"/>
            <a:ext cx="173451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Giao diện được xây dựng bằng 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HTML5/CSS3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thuần kết hợp với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JavaScript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(ES6+)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Thư viện đồ họa: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Sử dụng 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Chart.js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để vẽ các biểu đồ động, nhẹ và tương thích tốt trên nhiều thiết bị.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Cơ chế cập nhật: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Sử dụng kỹ thuật 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Long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Polling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thông qua hàm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setInterval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trong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JavaScript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 Cứ mỗi 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5 giây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Dashboard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sẽ tự động gọi API để cập nhật dữ liệu mới mà không cần người dùng tải lại trang (F5).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4B61BD85-0A08-859E-5378-C42DE8D3BEFF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117DC1D2-6BF5-E302-FBCB-3893BC2996AB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F2D6FD80-8C32-75BA-2CED-04C6C6B3EBA0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20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94CAE7A6-363A-BB87-3E29-C17418FC0B2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9" name="Group 8">
            <a:extLst>
              <a:ext uri="{FF2B5EF4-FFF2-40B4-BE49-F238E27FC236}">
                <a16:creationId xmlns:a16="http://schemas.microsoft.com/office/drawing/2014/main" id="{C20CA9B5-E590-B907-5227-E06DC6A51719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7FD3CD63-99E5-BFE8-3A7D-18F35FA22A5C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11">
            <a:extLst>
              <a:ext uri="{FF2B5EF4-FFF2-40B4-BE49-F238E27FC236}">
                <a16:creationId xmlns:a16="http://schemas.microsoft.com/office/drawing/2014/main" id="{410065E6-25C6-3460-1A78-5A7E26EC802B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CE88BC80-A0FD-A7B4-E8C6-4C5ED35071A8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20/27</a:t>
            </a:r>
          </a:p>
        </p:txBody>
      </p:sp>
    </p:spTree>
    <p:extLst>
      <p:ext uri="{BB962C8B-B14F-4D97-AF65-F5344CB8AC3E}">
        <p14:creationId xmlns:p14="http://schemas.microsoft.com/office/powerpoint/2010/main" val="806062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6994-AF10-8C49-3954-B15F317C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02DC8C-0A6B-A25F-35AA-A3AC4CFB09EC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8C51FCE-AA1F-7816-3E77-A8BE6D45FA27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D961D74-8D62-516D-86D2-9DC68BD5997E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0BC1DF9-3713-A7C0-2985-F76CCA43AD3D}"/>
              </a:ext>
            </a:extLst>
          </p:cNvPr>
          <p:cNvSpPr/>
          <p:nvPr/>
        </p:nvSpPr>
        <p:spPr>
          <a:xfrm>
            <a:off x="1828800" y="549036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A18FE0E-0931-8ABB-3592-FBE6FEE6378F}"/>
              </a:ext>
            </a:extLst>
          </p:cNvPr>
          <p:cNvSpPr txBox="1"/>
          <p:nvPr/>
        </p:nvSpPr>
        <p:spPr>
          <a:xfrm>
            <a:off x="1905000" y="549036"/>
            <a:ext cx="1272540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60"/>
              </a:lnSpc>
            </a:pPr>
            <a:r>
              <a:rPr lang="vi-VN" sz="4000" dirty="0">
                <a:latin typeface="Cambria Bold" panose="02040803050406030204" pitchFamily="18" charset="0"/>
              </a:rPr>
              <a:t>Tầng Nguồn và Xử lý Dữ liệu Nền (Data Supply Layer)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AD5928B-0AA0-C648-0879-8FF126CA10D3}"/>
              </a:ext>
            </a:extLst>
          </p:cNvPr>
          <p:cNvSpPr txBox="1"/>
          <p:nvPr/>
        </p:nvSpPr>
        <p:spPr>
          <a:xfrm>
            <a:off x="636919" y="505050"/>
            <a:ext cx="1268081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5.1.3</a:t>
            </a:r>
          </a:p>
        </p:txBody>
      </p:sp>
      <p:sp>
        <p:nvSpPr>
          <p:cNvPr id="10" name="Freeform 24">
            <a:extLst>
              <a:ext uri="{FF2B5EF4-FFF2-40B4-BE49-F238E27FC236}">
                <a16:creationId xmlns:a16="http://schemas.microsoft.com/office/drawing/2014/main" id="{140258C6-2052-7417-B143-D4E8DE217FC7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A3EF69EE-4275-8395-6C3A-C13EE80D19DA}"/>
              </a:ext>
            </a:extLst>
          </p:cNvPr>
          <p:cNvSpPr txBox="1"/>
          <p:nvPr/>
        </p:nvSpPr>
        <p:spPr>
          <a:xfrm>
            <a:off x="636919" y="1538403"/>
            <a:ext cx="173451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a.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Kafka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Producer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- Bộ định nhịp thời gian thực (06_kafka_producer.py)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Cung cấp nhịp tim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Heartbeat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 cho hệ thống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Chuẩn hóa dữ liệu đầu vào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b.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Real-time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Analysis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&amp; AI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Engine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- Bộ não phân tích (07_realtime_analysis.py)</a:t>
            </a:r>
          </a:p>
          <a:p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Đây là thành phần quan trọng nhất, chịu trách nhiệm tính toán các con số mà người dùng nhìn thấy trên màn hình.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Module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này thực hiện 3 nhiệm vụ cốt lõi phục vụ cho việc trực quan hóa: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Kỹ thuật đặc trưng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Feature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Engineering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 cho các biểu đ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ồ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Vận hành Mô hình Máy học (ML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Serving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Cấu trúc hóa dữ liệu đầu ra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Sink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):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4A4291E-1B33-F819-3190-E8FE9AE2A930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62FA90DB-441B-7B99-3F18-1BE565007A6B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1074C044-6C8D-B1D6-09A0-572380A1BCF3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21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2B6CF755-BB57-44B3-C60D-21B68F1DAAC8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9" name="Group 8">
            <a:extLst>
              <a:ext uri="{FF2B5EF4-FFF2-40B4-BE49-F238E27FC236}">
                <a16:creationId xmlns:a16="http://schemas.microsoft.com/office/drawing/2014/main" id="{2D772DFF-9276-C92E-9179-D72B9F15ED83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FBBDB51C-BC95-A2BA-B8BB-A8CB5297D5E3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11">
            <a:extLst>
              <a:ext uri="{FF2B5EF4-FFF2-40B4-BE49-F238E27FC236}">
                <a16:creationId xmlns:a16="http://schemas.microsoft.com/office/drawing/2014/main" id="{C0F36264-C659-FEFF-FC88-761265213173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C662EA10-8D23-7613-DDDD-930AFBD107FE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21/27</a:t>
            </a:r>
          </a:p>
        </p:txBody>
      </p:sp>
    </p:spTree>
    <p:extLst>
      <p:ext uri="{BB962C8B-B14F-4D97-AF65-F5344CB8AC3E}">
        <p14:creationId xmlns:p14="http://schemas.microsoft.com/office/powerpoint/2010/main" val="2623878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56F08-3B43-2D6F-60DD-C3E99775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301588D-00E1-948E-4954-9EA21CB14810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2FEEE9E-18BC-B13B-106B-277C01B723DB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53FA4CF-93AF-3528-BEBB-19D1A3764FF0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6058DE1-0572-78E2-5C24-4C189F925C1B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88E65E0-7CC2-6408-649B-8ECCE1CFD505}"/>
              </a:ext>
            </a:extLst>
          </p:cNvPr>
          <p:cNvSpPr txBox="1"/>
          <p:nvPr/>
        </p:nvSpPr>
        <p:spPr>
          <a:xfrm>
            <a:off x="1665618" y="541962"/>
            <a:ext cx="1020253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Demo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hệ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thống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trực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quan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hóa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và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phân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tích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58156AB-D23B-0B3E-912A-90ED4D721303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5.2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E3CDC956-9F49-D60C-1DDC-1701D6FCB57F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678944C5-117B-6D4E-104F-786A03CED9BF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216AA846-AF38-3161-3834-9C2F3AA7A1C5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1849B858-56CA-5C33-92C7-74CA2A7BF86B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22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926AE7B7-BE18-B934-CFDD-2B9C9F30B235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6" name="Group 8">
            <a:extLst>
              <a:ext uri="{FF2B5EF4-FFF2-40B4-BE49-F238E27FC236}">
                <a16:creationId xmlns:a16="http://schemas.microsoft.com/office/drawing/2014/main" id="{B9EC9D59-E281-9E3C-94A0-AFB18F77BB23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14ECE9A-6215-B076-419E-6B3C3C4FE9ED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1">
            <a:extLst>
              <a:ext uri="{FF2B5EF4-FFF2-40B4-BE49-F238E27FC236}">
                <a16:creationId xmlns:a16="http://schemas.microsoft.com/office/drawing/2014/main" id="{8C2DD978-503A-A8F4-12C9-EB4535446B01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1280AA2F-1725-F51B-C609-A92F2EA866B4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22/27</a:t>
            </a:r>
          </a:p>
        </p:txBody>
      </p:sp>
    </p:spTree>
    <p:extLst>
      <p:ext uri="{BB962C8B-B14F-4D97-AF65-F5344CB8AC3E}">
        <p14:creationId xmlns:p14="http://schemas.microsoft.com/office/powerpoint/2010/main" val="3669476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691C1-80AA-874E-1480-8BAC920D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3F5056-96F6-23F6-82CA-9E70221AA33C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253FA07-E703-2303-BA37-6AF120E54E65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7EA7757-6BF0-8EC8-80F6-DD4806652735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32888D1-202B-F2C2-FE17-24056AED99E3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EDBCB7AE-39B6-0111-DA5E-D41C843C2ED5}"/>
              </a:ext>
            </a:extLst>
          </p:cNvPr>
          <p:cNvSpPr/>
          <p:nvPr/>
        </p:nvSpPr>
        <p:spPr>
          <a:xfrm>
            <a:off x="3619500" y="2374385"/>
            <a:ext cx="11049000" cy="4876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6,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Kết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quả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và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đánh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giá</a:t>
            </a:r>
            <a:r>
              <a:rPr lang="en-US" sz="60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F8BC14A-F6E7-55ED-A6D5-F608CA603DA5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836FB43A-FAD4-416E-61E2-B4D2ACDA7B31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C91E659-5696-43C5-01AA-ED92E79F044C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23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105650B7-E974-43F4-6D86-1E7115D562D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217EF117-DC32-A01F-FFCA-4BBD30B01EA2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17B1B5F-EB55-EF7D-8C76-5BCD01C6DB82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87C21BC8-8330-5322-27E4-523ED226D28A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05705866-D7FE-1921-3842-4D046B228736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23/27</a:t>
            </a:r>
          </a:p>
        </p:txBody>
      </p:sp>
    </p:spTree>
    <p:extLst>
      <p:ext uri="{BB962C8B-B14F-4D97-AF65-F5344CB8AC3E}">
        <p14:creationId xmlns:p14="http://schemas.microsoft.com/office/powerpoint/2010/main" val="1936217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5A8F-B188-6D21-4010-66D903FE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BB886D-3DBE-AFB6-B847-AC2D4BE67E59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5C441B4-A7D9-8C32-6329-3936DB58E0C1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026B12B-785B-33E5-2FC9-C09094509545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68C5EDF-BE3C-ED4A-06AA-5414EF2DDCA2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CC7C647-0F9B-7956-3C05-6922D939ECFD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Tổng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quan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kết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quả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đạt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được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E63BB0E-E474-B10C-34F5-B0F7190B8C9F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6.1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CA3E3512-755C-048B-1630-B6C10DFD0EAB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8A50FBC4-2A33-C839-F011-5C4548C06A8E}"/>
              </a:ext>
            </a:extLst>
          </p:cNvPr>
          <p:cNvSpPr txBox="1"/>
          <p:nvPr/>
        </p:nvSpPr>
        <p:spPr>
          <a:xfrm>
            <a:off x="636919" y="1538403"/>
            <a:ext cx="1734513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Mục tiêu hoàn thành: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Xây dựng thành công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pipeline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xử lý dữ liệu từ đầu cuối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End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-to-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End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Kết hợp nhuần nhuyễn giữa Phân tích Lịch sử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Batch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 và Xử lý Thời gian thực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Streaming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).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Công nghệ cốt lõi: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Thu thập: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YouTube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API v3,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Kaggle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Datasets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Xử lý: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Apache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Kafka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PySpark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Machine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Learning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MongoDB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Hiển thị: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Flask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API,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Real-time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Dashboard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Kết quả 1 - Phân tích Dữ liệu &amp;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Insight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(EDA)</a:t>
            </a:r>
            <a:endParaRPr lang="en-US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Xử lý dữ liệu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Insight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quan trọng</a:t>
            </a:r>
          </a:p>
          <a:p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Kết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quả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2 -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Hệ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thống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Thời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gian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thực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(Real-time)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Luồng xử lý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Pipeline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Mô hình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Machine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Learning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Dashboard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Giám sát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BDA03FDA-23D9-DBBB-F6F9-F6F812326CF0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EADBB8CD-1269-4A3D-9754-A49B11EC0D9C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7AF09841-C951-7B3B-0B18-DBD410D15167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24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65A18F53-637D-E542-5F04-EE3F79924434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3086D25F-4029-FDFB-52F8-EE93C4959F7A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9AE183C0-E168-9505-9653-ADE2D3AA3159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CB0FC677-D368-D947-6386-41EDEA933985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2129E9F-F50E-FD9A-A7FF-8D56C987AA08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24/27</a:t>
            </a:r>
          </a:p>
        </p:txBody>
      </p:sp>
    </p:spTree>
    <p:extLst>
      <p:ext uri="{BB962C8B-B14F-4D97-AF65-F5344CB8AC3E}">
        <p14:creationId xmlns:p14="http://schemas.microsoft.com/office/powerpoint/2010/main" val="3109714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B056-D756-1F04-37D3-BE35E622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7BBEE8-2D4F-4BF0-CA2E-FB365E718196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708066-4F8B-94A7-F992-A6DF7215BC14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1560FFF-0174-168C-E0E3-D79E87B6E789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F01F645-0068-749B-E44F-EF095EF2FBA9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FD68608-D761-A2F3-C7D2-8AF6E7F6EE48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Hạn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chế</a:t>
            </a:r>
            <a:endParaRPr lang="en-US" sz="3800" spc="35" dirty="0">
              <a:solidFill>
                <a:srgbClr val="000000"/>
              </a:solidFill>
              <a:latin typeface="Cambria Bold" panose="02040803050406030204" pitchFamily="18" charset="0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899075-7D43-989B-B0D9-AFC0C1D15D3B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6.2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5F606C57-D57A-B9AD-19A9-8139D1958943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855CB42B-368B-EC7E-29D0-BB8342377B83}"/>
              </a:ext>
            </a:extLst>
          </p:cNvPr>
          <p:cNvSpPr txBox="1"/>
          <p:nvPr/>
        </p:nvSpPr>
        <p:spPr>
          <a:xfrm>
            <a:off x="1151268" y="1609559"/>
            <a:ext cx="1333595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Cơ chế Học máy: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Mô hình "Tĩnh" (Static Training): Chỉ học trên dữ liệu quá khứ, chưa có cơ chế tự học lại (Online Learning) khi chạy real-time.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Hạ tầng:</a:t>
            </a:r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Phụ thuộc vào hạn ngạch (Quota) miễn phí của Google API.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Xử lý Spark Streaming vẫn chạy giả lập trên máy cục bộ (Local Mode).</a:t>
            </a:r>
          </a:p>
          <a:p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EFE7BBE9-BA9C-7EB3-9BF2-59AF31EBE6EE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3C686E2-BFFC-C20C-9CF7-FB9B785B51C7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6643BFC-C2BB-319B-E213-677287A8419B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25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518B8D79-5A1F-329A-C6D9-E3287FCF70E1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6" name="Group 8">
            <a:extLst>
              <a:ext uri="{FF2B5EF4-FFF2-40B4-BE49-F238E27FC236}">
                <a16:creationId xmlns:a16="http://schemas.microsoft.com/office/drawing/2014/main" id="{1B46C2AE-9C4E-7168-DF07-97E0407D912B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7E43040E-6F64-409A-CF33-FFC1C0934CB3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1">
            <a:extLst>
              <a:ext uri="{FF2B5EF4-FFF2-40B4-BE49-F238E27FC236}">
                <a16:creationId xmlns:a16="http://schemas.microsoft.com/office/drawing/2014/main" id="{C2906CA1-8F08-405C-C508-4FCBC20905E1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A87AEB52-CF64-A827-AEB1-8669D65D0C78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25/27</a:t>
            </a:r>
          </a:p>
        </p:txBody>
      </p:sp>
    </p:spTree>
    <p:extLst>
      <p:ext uri="{BB962C8B-B14F-4D97-AF65-F5344CB8AC3E}">
        <p14:creationId xmlns:p14="http://schemas.microsoft.com/office/powerpoint/2010/main" val="3154143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4C5C-7E92-52C2-3AA1-CE3E4D2E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B2ACA8-DA12-658C-63DD-47C18F6DEAAB}"/>
              </a:ext>
            </a:extLst>
          </p:cNvPr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4166CBA-5F9E-F51A-6144-AEF2F67B3C41}"/>
              </a:ext>
            </a:extLst>
          </p:cNvPr>
          <p:cNvSpPr txBox="1"/>
          <p:nvPr/>
        </p:nvSpPr>
        <p:spPr>
          <a:xfrm>
            <a:off x="17559146" y="9859975"/>
            <a:ext cx="422910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C6537C7-2A18-08D3-28F9-D39DFAF88378}"/>
              </a:ext>
            </a:extLst>
          </p:cNvPr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05AA95E-6190-EEAA-36E8-A05C3BA9E39F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5A75ED3-67C2-6D7F-14B1-2EC5A3776DF6}"/>
              </a:ext>
            </a:extLst>
          </p:cNvPr>
          <p:cNvSpPr txBox="1"/>
          <p:nvPr/>
        </p:nvSpPr>
        <p:spPr>
          <a:xfrm>
            <a:off x="1665618" y="541962"/>
            <a:ext cx="9307182" cy="553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Hướng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phát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triển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800" spc="35" dirty="0" err="1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tương</a:t>
            </a:r>
            <a:r>
              <a:rPr lang="en-US" sz="3800" spc="35" dirty="0">
                <a:solidFill>
                  <a:srgbClr val="000000"/>
                </a:solidFill>
                <a:latin typeface="Cambria Bold" panose="02040803050406030204" pitchFamily="18" charset="0"/>
                <a:ea typeface="TT Rounds Condensed"/>
                <a:cs typeface="TT Rounds Condensed"/>
                <a:sym typeface="TT Rounds Condensed"/>
              </a:rPr>
              <a:t> lai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1EED293-2998-45BF-1FC8-2EEAEE4C09C7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6.3	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F698CFB-4AEB-75B1-6E98-0C0D06285DA8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BE6B5E1F-72E5-E470-A44C-FA261F2D52AA}"/>
              </a:ext>
            </a:extLst>
          </p:cNvPr>
          <p:cNvSpPr txBox="1"/>
          <p:nvPr/>
        </p:nvSpPr>
        <p:spPr>
          <a:xfrm>
            <a:off x="636919" y="1538403"/>
            <a:ext cx="173451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Tối ưu 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MLOps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Xây dựng quy trình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Retraining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tự động khi có dữ liệu mới.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Tinh chỉnh thuật toán tính điểm tin cậy (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Confidence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Score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 dựa trên phản hồi thực tế.</a:t>
            </a:r>
          </a:p>
          <a:p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Mở rộng Hạ tầng (</a:t>
            </a:r>
            <a:r>
              <a:rPr lang="vi-VN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Scale-up</a:t>
            </a:r>
            <a:r>
              <a:rPr lang="vi-V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Triển khai lên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Cloud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(AWS/GCP).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Sử dụng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Kubernetes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để quản lý </a:t>
            </a:r>
            <a:r>
              <a:rPr lang="vi-V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Container</a:t>
            </a:r>
            <a:r>
              <a:rPr lang="vi-V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và mở rộng khả năng chịu tải.</a:t>
            </a:r>
          </a:p>
          <a:p>
            <a:endParaRPr lang="vi-V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31833EAF-FF6C-5A0C-FB70-913E4DB79DB8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A4B76668-F552-3821-3671-4C78EB9655D5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A653BEA1-58A7-C10C-CC09-1CDD9A1F2FB5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26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4CE56090-E8AD-5B8A-C828-A2CABFD7CC4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A9B2692D-C3D4-914D-077D-0C449B7ADD53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B1910EC7-D65C-B183-F991-261C4B158BE6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1D9DDCBF-FF3E-59FD-AE85-CEB77D7D46F0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33D4DF4E-E669-CF90-23FC-5D6BF731626C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26/27</a:t>
            </a:r>
          </a:p>
        </p:txBody>
      </p:sp>
    </p:spTree>
    <p:extLst>
      <p:ext uri="{BB962C8B-B14F-4D97-AF65-F5344CB8AC3E}">
        <p14:creationId xmlns:p14="http://schemas.microsoft.com/office/powerpoint/2010/main" val="2775267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30700" y="20574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654018" y="3086100"/>
            <a:ext cx="4979963" cy="4114800"/>
          </a:xfrm>
          <a:custGeom>
            <a:avLst/>
            <a:gdLst/>
            <a:ahLst/>
            <a:cxnLst/>
            <a:rect l="l" t="t" r="r" b="b"/>
            <a:pathLst>
              <a:path w="4979963" h="4114800">
                <a:moveTo>
                  <a:pt x="0" y="0"/>
                </a:moveTo>
                <a:lnTo>
                  <a:pt x="4979964" y="0"/>
                </a:lnTo>
                <a:lnTo>
                  <a:pt x="49799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559146" y="9859975"/>
            <a:ext cx="421958" cy="3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spc="21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33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1154" y="9859975"/>
            <a:ext cx="55845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21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1783A5B1-4D64-C374-7A61-159E22C1AE7A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7D3CA6A-166C-4990-855D-2E4DC6F37CBD}"/>
              </a:ext>
            </a:extLst>
          </p:cNvPr>
          <p:cNvSpPr txBox="1"/>
          <p:nvPr/>
        </p:nvSpPr>
        <p:spPr>
          <a:xfrm>
            <a:off x="270204" y="9846078"/>
            <a:ext cx="5811600" cy="7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8199E55-B4B9-2F82-1DCD-71E6A1FBC310}"/>
              </a:ext>
            </a:extLst>
          </p:cNvPr>
          <p:cNvSpPr txBox="1"/>
          <p:nvPr/>
        </p:nvSpPr>
        <p:spPr>
          <a:xfrm>
            <a:off x="17559146" y="9859975"/>
            <a:ext cx="42300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27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B0C5B0F-9D77-C4DD-D569-7CA93FCB43C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8" name="Group 8">
            <a:extLst>
              <a:ext uri="{FF2B5EF4-FFF2-40B4-BE49-F238E27FC236}">
                <a16:creationId xmlns:a16="http://schemas.microsoft.com/office/drawing/2014/main" id="{5238E7AF-F4BC-5D2A-E143-A42E156F21F6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90AEF674-642C-6790-7028-1B57C23BFCDC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346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11">
            <a:extLst>
              <a:ext uri="{FF2B5EF4-FFF2-40B4-BE49-F238E27FC236}">
                <a16:creationId xmlns:a16="http://schemas.microsoft.com/office/drawing/2014/main" id="{587F34BF-2E60-A15F-132D-F818118A9E49}"/>
              </a:ext>
            </a:extLst>
          </p:cNvPr>
          <p:cNvSpPr txBox="1"/>
          <p:nvPr/>
        </p:nvSpPr>
        <p:spPr>
          <a:xfrm>
            <a:off x="270204" y="9846078"/>
            <a:ext cx="7351318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770B52DB-94F9-F150-4104-C1D183622135}"/>
              </a:ext>
            </a:extLst>
          </p:cNvPr>
          <p:cNvSpPr txBox="1"/>
          <p:nvPr/>
        </p:nvSpPr>
        <p:spPr>
          <a:xfrm>
            <a:off x="17030701" y="9859975"/>
            <a:ext cx="951446" cy="33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95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27/27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2722</Words>
  <Application>Microsoft Office PowerPoint</Application>
  <PresentationFormat>Tùy chỉnh</PresentationFormat>
  <Paragraphs>388</Paragraphs>
  <Slides>27</Slides>
  <Notes>22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27</vt:i4>
      </vt:variant>
    </vt:vector>
  </HeadingPairs>
  <TitlesOfParts>
    <vt:vector size="34" baseType="lpstr">
      <vt:lpstr>Cambria Bold</vt:lpstr>
      <vt:lpstr>Calibri</vt:lpstr>
      <vt:lpstr>TT Rounds Condensed</vt:lpstr>
      <vt:lpstr>Arial</vt:lpstr>
      <vt:lpstr>Cambria Math</vt:lpstr>
      <vt:lpstr>TT Rounds Condensed Bold</vt:lpstr>
      <vt:lpstr>Office Theme</vt:lpstr>
      <vt:lpstr>Bản trình bày PowerPoint</vt:lpstr>
      <vt:lpstr>MỤC LỤC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Bigdata.pptx</dc:title>
  <cp:lastModifiedBy>minh minh</cp:lastModifiedBy>
  <cp:revision>4</cp:revision>
  <dcterms:created xsi:type="dcterms:W3CDTF">2006-08-16T00:00:00Z</dcterms:created>
  <dcterms:modified xsi:type="dcterms:W3CDTF">2025-11-23T15:44:14Z</dcterms:modified>
  <dc:identifier>DAGYq2251TM</dc:identifier>
</cp:coreProperties>
</file>